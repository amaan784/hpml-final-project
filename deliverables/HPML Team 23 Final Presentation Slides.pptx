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5"/>
    <p:sldMasterId id="214748366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F6EB3F7-00B9-48F1-BA0E-6511EF26576A}">
  <a:tblStyle styleId="{8F6EB3F7-00B9-48F1-BA0E-6511EF26576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11" Type="http://schemas.openxmlformats.org/officeDocument/2006/relationships/slide" Target="slides/slide4.xml"/><Relationship Id="rId22" Type="http://schemas.openxmlformats.org/officeDocument/2006/relationships/slide" Target="slides/slide15.xml"/><Relationship Id="rId10" Type="http://schemas.openxmlformats.org/officeDocument/2006/relationships/slide" Target="slides/slide3.xml"/><Relationship Id="rId21" Type="http://schemas.openxmlformats.org/officeDocument/2006/relationships/slide" Target="slides/slide14.xml"/><Relationship Id="rId13" Type="http://schemas.openxmlformats.org/officeDocument/2006/relationships/slide" Target="slides/slide6.xml"/><Relationship Id="rId24" Type="http://schemas.openxmlformats.org/officeDocument/2006/relationships/slide" Target="slides/slide17.xml"/><Relationship Id="rId12" Type="http://schemas.openxmlformats.org/officeDocument/2006/relationships/slide" Target="slides/slide5.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5" Type="http://schemas.openxmlformats.org/officeDocument/2006/relationships/slideMaster" Target="slideMasters/slideMaster1.xml"/><Relationship Id="rId19" Type="http://schemas.openxmlformats.org/officeDocument/2006/relationships/slide" Target="slides/slide12.xml"/><Relationship Id="rId6" Type="http://schemas.openxmlformats.org/officeDocument/2006/relationships/slideMaster" Target="slideMasters/slideMaster2.xml"/><Relationship Id="rId18" Type="http://schemas.openxmlformats.org/officeDocument/2006/relationships/slide" Target="slides/slide1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df52c7841e_3_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g3df52c7841e_3_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Eric	</a:t>
            </a:r>
            <a:endParaRPr/>
          </a:p>
        </p:txBody>
      </p:sp>
      <p:sp>
        <p:nvSpPr>
          <p:cNvPr id="55" name="Google Shape;55;g3df52c7841e_3_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df52c7841e_3_1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g3df52c7841e_3_1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Eric</a:t>
            </a:r>
            <a:endParaRPr/>
          </a:p>
        </p:txBody>
      </p:sp>
      <p:sp>
        <p:nvSpPr>
          <p:cNvPr id="66" name="Google Shape;66;g3df52c7841e_3_1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df52c7841e_3_24: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 name="Google Shape;78;g3df52c7841e_3_24: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Eric</a:t>
            </a:r>
            <a:endParaRPr/>
          </a:p>
        </p:txBody>
      </p:sp>
      <p:sp>
        <p:nvSpPr>
          <p:cNvPr id="79" name="Google Shape;79;g3df52c7841e_3_24: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df52c7841e_3_4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g3df52c7841e_3_4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g3df52c7841e_3_4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df52c7841e_3_6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g3df52c7841e_3_6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g3df52c7841e_3_6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df52c7841e_3_7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g3df52c7841e_3_7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g3df52c7841e_3_7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df52c7841e_3_9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g3df52c7841e_3_9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Madhav</a:t>
            </a:r>
            <a:endParaRPr/>
          </a:p>
        </p:txBody>
      </p:sp>
      <p:sp>
        <p:nvSpPr>
          <p:cNvPr id="147" name="Google Shape;147;g3df52c7841e_3_9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df52c7841e_3_104: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g3df52c7841e_3_104: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Madhav</a:t>
            </a:r>
            <a:endParaRPr/>
          </a:p>
        </p:txBody>
      </p:sp>
      <p:sp>
        <p:nvSpPr>
          <p:cNvPr id="159" name="Google Shape;159;g3df52c7841e_3_104: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df52c7841e_5_0:notes"/>
          <p:cNvSpPr txBox="1"/>
          <p:nvPr>
            <p:ph idx="1" type="body"/>
          </p:nvPr>
        </p:nvSpPr>
        <p:spPr>
          <a:xfrm>
            <a:off x="685800" y="3300413"/>
            <a:ext cx="5486400" cy="2700338"/>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Madhav</a:t>
            </a:r>
            <a:endParaRPr/>
          </a:p>
        </p:txBody>
      </p:sp>
      <p:sp>
        <p:nvSpPr>
          <p:cNvPr id="170" name="Google Shape;170;g3df52c7841e_5_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df52c7841e_5_12:notes"/>
          <p:cNvSpPr txBox="1"/>
          <p:nvPr>
            <p:ph idx="1" type="body"/>
          </p:nvPr>
        </p:nvSpPr>
        <p:spPr>
          <a:xfrm>
            <a:off x="685800" y="3300413"/>
            <a:ext cx="5486400" cy="2700338"/>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Madhav</a:t>
            </a:r>
            <a:endParaRPr/>
          </a:p>
        </p:txBody>
      </p:sp>
      <p:sp>
        <p:nvSpPr>
          <p:cNvPr id="181" name="Google Shape;181;g3df52c7841e_5_1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df52c7841e_5_23:notes"/>
          <p:cNvSpPr txBox="1"/>
          <p:nvPr>
            <p:ph idx="1" type="body"/>
          </p:nvPr>
        </p:nvSpPr>
        <p:spPr>
          <a:xfrm>
            <a:off x="685800" y="3300413"/>
            <a:ext cx="5486400" cy="2700338"/>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g3df52c7841e_5_2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df52c7841e_3_12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g3df52c7841e_3_12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g3df52c7841e_3_12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df52c7841e_3_14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g3df52c7841e_3_14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g3df52c7841e_3_14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df52c7841e_3_17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g3df52c7841e_3_17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g3df52c7841e_3_17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df52c7841e_3_15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g3df52c7841e_3_15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g3df52c7841e_3_15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e08b20670e_0_1: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g3e08b20670e_0_1: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g3e08b20670e_0_1: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df52c7841e_3_16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g3df52c7841e_3_16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g3df52c7841e_3_16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2.jpg"/><Relationship Id="rId4"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6.jp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1F26"/>
        </a:solidFill>
      </p:bgPr>
    </p:bg>
    <p:spTree>
      <p:nvGrpSpPr>
        <p:cNvPr id="56" name="Shape 56"/>
        <p:cNvGrpSpPr/>
        <p:nvPr/>
      </p:nvGrpSpPr>
      <p:grpSpPr>
        <a:xfrm>
          <a:off x="0" y="0"/>
          <a:ext cx="0" cy="0"/>
          <a:chOff x="0" y="0"/>
          <a:chExt cx="0" cy="0"/>
        </a:xfrm>
      </p:grpSpPr>
      <p:sp>
        <p:nvSpPr>
          <p:cNvPr id="57" name="Google Shape;57;p15"/>
          <p:cNvSpPr/>
          <p:nvPr/>
        </p:nvSpPr>
        <p:spPr>
          <a:xfrm>
            <a:off x="411480" y="411480"/>
            <a:ext cx="822960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CC4"/>
              </a:buClr>
              <a:buSzPts val="900"/>
              <a:buFont typeface="Calibri"/>
              <a:buNone/>
            </a:pPr>
            <a:r>
              <a:rPr b="0" i="0" lang="en" sz="900" u="none" cap="none" strike="noStrike">
                <a:solidFill>
                  <a:srgbClr val="B8BCC4"/>
                </a:solidFill>
                <a:latin typeface="Calibri"/>
                <a:ea typeface="Calibri"/>
                <a:cs typeface="Calibri"/>
                <a:sym typeface="Calibri"/>
              </a:rPr>
              <a:t>HPML Final Project  ·  Spring 2026</a:t>
            </a:r>
            <a:endParaRPr b="0" i="0" sz="900" u="none" cap="none" strike="noStrike">
              <a:solidFill>
                <a:schemeClr val="dk1"/>
              </a:solidFill>
              <a:latin typeface="Calibri"/>
              <a:ea typeface="Calibri"/>
              <a:cs typeface="Calibri"/>
              <a:sym typeface="Calibri"/>
            </a:endParaRPr>
          </a:p>
        </p:txBody>
      </p:sp>
      <p:sp>
        <p:nvSpPr>
          <p:cNvPr id="58" name="Google Shape;58;p15"/>
          <p:cNvSpPr/>
          <p:nvPr/>
        </p:nvSpPr>
        <p:spPr>
          <a:xfrm>
            <a:off x="411480" y="1508760"/>
            <a:ext cx="822960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900"/>
              <a:buFont typeface="Calibri"/>
              <a:buNone/>
            </a:pPr>
            <a:r>
              <a:rPr b="1" i="0" lang="en" sz="2900" u="none" cap="none" strike="noStrike">
                <a:solidFill>
                  <a:srgbClr val="FFFFFF"/>
                </a:solidFill>
                <a:latin typeface="Calibri"/>
                <a:ea typeface="Calibri"/>
                <a:cs typeface="Calibri"/>
                <a:sym typeface="Calibri"/>
              </a:rPr>
              <a:t>Multi-Modal Agent Inference Optimization for Industrial Asset Operations</a:t>
            </a:r>
            <a:endParaRPr b="0" i="0" sz="4100" u="none" cap="none" strike="noStrike">
              <a:solidFill>
                <a:schemeClr val="dk1"/>
              </a:solidFill>
              <a:latin typeface="Calibri"/>
              <a:ea typeface="Calibri"/>
              <a:cs typeface="Calibri"/>
              <a:sym typeface="Calibri"/>
            </a:endParaRPr>
          </a:p>
        </p:txBody>
      </p:sp>
      <p:sp>
        <p:nvSpPr>
          <p:cNvPr id="59" name="Google Shape;59;p15"/>
          <p:cNvSpPr/>
          <p:nvPr/>
        </p:nvSpPr>
        <p:spPr>
          <a:xfrm>
            <a:off x="411480" y="2640335"/>
            <a:ext cx="8229600" cy="61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CC4"/>
              </a:buClr>
              <a:buSzPts val="1500"/>
              <a:buFont typeface="Calibri"/>
              <a:buNone/>
            </a:pPr>
            <a:r>
              <a:rPr i="1" lang="en" sz="1500">
                <a:solidFill>
                  <a:srgbClr val="B8BCC4"/>
                </a:solidFill>
                <a:latin typeface="Calibri"/>
                <a:ea typeface="Calibri"/>
                <a:cs typeface="Calibri"/>
                <a:sym typeface="Calibri"/>
              </a:rPr>
              <a:t>We extended AssetOpsBench with a multi-modal Visual Inspection Agent and applied AWQ W4A16 quantization, achieving a 2.47× E2E speedup on Llama and 1.98× on Qwen with domain calibration on a single NVIDIA L4 GPU.</a:t>
            </a:r>
            <a:endParaRPr b="0" i="0" sz="1500" u="none" cap="none" strike="noStrike">
              <a:solidFill>
                <a:schemeClr val="dk1"/>
              </a:solidFill>
              <a:latin typeface="Calibri"/>
              <a:ea typeface="Calibri"/>
              <a:cs typeface="Calibri"/>
              <a:sym typeface="Calibri"/>
            </a:endParaRPr>
          </a:p>
        </p:txBody>
      </p:sp>
      <p:sp>
        <p:nvSpPr>
          <p:cNvPr id="60" name="Google Shape;60;p15"/>
          <p:cNvSpPr/>
          <p:nvPr/>
        </p:nvSpPr>
        <p:spPr>
          <a:xfrm>
            <a:off x="411480" y="3429000"/>
            <a:ext cx="411480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Columbia HPML Team 23</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8CCD2"/>
              </a:buClr>
              <a:buSzPts val="1000"/>
              <a:buFont typeface="Calibri"/>
              <a:buNone/>
            </a:pPr>
            <a:r>
              <a:rPr b="0" i="0" lang="en" sz="1000" u="none" cap="none" strike="noStrike">
                <a:solidFill>
                  <a:srgbClr val="C8CCD2"/>
                </a:solidFill>
                <a:latin typeface="Calibri"/>
                <a:ea typeface="Calibri"/>
                <a:cs typeface="Calibri"/>
                <a:sym typeface="Calibri"/>
              </a:rPr>
              <a:t>Amaan Sheikh · aas2438</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8CCD2"/>
              </a:buClr>
              <a:buSzPts val="1000"/>
              <a:buFont typeface="Calibri"/>
              <a:buNone/>
            </a:pPr>
            <a:r>
              <a:rPr b="0" i="0" lang="en" sz="1000" u="none" cap="none" strike="noStrike">
                <a:solidFill>
                  <a:srgbClr val="C8CCD2"/>
                </a:solidFill>
                <a:latin typeface="Calibri"/>
                <a:ea typeface="Calibri"/>
                <a:cs typeface="Calibri"/>
                <a:sym typeface="Calibri"/>
              </a:rPr>
              <a:t>Aman Upganlawar · au2327</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8CCD2"/>
              </a:buClr>
              <a:buSzPts val="1000"/>
              <a:buFont typeface="Calibri"/>
              <a:buNone/>
            </a:pPr>
            <a:r>
              <a:rPr b="0" i="0" lang="en" sz="1000" u="none" cap="none" strike="noStrike">
                <a:solidFill>
                  <a:srgbClr val="C8CCD2"/>
                </a:solidFill>
                <a:latin typeface="Calibri"/>
                <a:ea typeface="Calibri"/>
                <a:cs typeface="Calibri"/>
                <a:sym typeface="Calibri"/>
              </a:rPr>
              <a:t>Madhav Rajkondawar · mr4650</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8CCD2"/>
              </a:buClr>
              <a:buSzPts val="1000"/>
              <a:buFont typeface="Calibri"/>
              <a:buNone/>
            </a:pPr>
            <a:r>
              <a:rPr b="0" i="0" lang="en" sz="1000" u="none" cap="none" strike="noStrike">
                <a:solidFill>
                  <a:srgbClr val="C8CCD2"/>
                </a:solidFill>
                <a:latin typeface="Calibri"/>
                <a:ea typeface="Calibri"/>
                <a:cs typeface="Calibri"/>
                <a:sym typeface="Calibri"/>
              </a:rPr>
              <a:t>Yang-Jung Chen · yc4670</a:t>
            </a:r>
            <a:endParaRPr b="0" i="0" sz="1200" u="none" cap="none" strike="noStrike">
              <a:solidFill>
                <a:schemeClr val="dk1"/>
              </a:solidFill>
              <a:latin typeface="Calibri"/>
              <a:ea typeface="Calibri"/>
              <a:cs typeface="Calibri"/>
              <a:sym typeface="Calibri"/>
            </a:endParaRPr>
          </a:p>
        </p:txBody>
      </p:sp>
      <p:sp>
        <p:nvSpPr>
          <p:cNvPr id="61" name="Google Shape;61;p15"/>
          <p:cNvSpPr/>
          <p:nvPr/>
        </p:nvSpPr>
        <p:spPr>
          <a:xfrm>
            <a:off x="411480" y="4800600"/>
            <a:ext cx="82296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E939A"/>
              </a:buClr>
              <a:buSzPts val="800"/>
              <a:buFont typeface="Calibri"/>
              <a:buNone/>
            </a:pPr>
            <a:r>
              <a:rPr b="0" i="1" lang="en" sz="800" u="none" cap="none" strike="noStrike">
                <a:solidFill>
                  <a:srgbClr val="8E939A"/>
                </a:solidFill>
                <a:latin typeface="Calibri"/>
                <a:ea typeface="Calibri"/>
                <a:cs typeface="Calibri"/>
                <a:sym typeface="Calibri"/>
              </a:rPr>
              <a:t>Dr. Kaoutar El Maghraoui  ·  Columbia University  ·  Week of May 4, 2026</a:t>
            </a:r>
            <a:endParaRPr b="0" i="0" sz="800" u="none" cap="none" strike="noStrike">
              <a:solidFill>
                <a:schemeClr val="dk1"/>
              </a:solidFill>
              <a:latin typeface="Calibri"/>
              <a:ea typeface="Calibri"/>
              <a:cs typeface="Calibri"/>
              <a:sym typeface="Calibri"/>
            </a:endParaRPr>
          </a:p>
        </p:txBody>
      </p:sp>
      <p:sp>
        <p:nvSpPr>
          <p:cNvPr id="62" name="Google Shape;62;p15"/>
          <p:cNvSpPr/>
          <p:nvPr/>
        </p:nvSpPr>
        <p:spPr>
          <a:xfrm>
            <a:off x="2821900" y="3429000"/>
            <a:ext cx="6093600" cy="109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0" i="0" lang="en" sz="1000" u="none" cap="none" strike="noStrike">
                <a:solidFill>
                  <a:srgbClr val="FFFFFF"/>
                </a:solidFill>
                <a:latin typeface="Calibri"/>
                <a:ea typeface="Calibri"/>
                <a:cs typeface="Calibri"/>
                <a:sym typeface="Calibri"/>
              </a:rPr>
              <a:t>GitHub:  </a:t>
            </a:r>
            <a:r>
              <a:rPr lang="en" sz="1000">
                <a:solidFill>
                  <a:srgbClr val="FFFFFF"/>
                </a:solidFill>
                <a:latin typeface="Calibri"/>
                <a:ea typeface="Calibri"/>
                <a:cs typeface="Calibri"/>
                <a:sym typeface="Calibri"/>
              </a:rPr>
              <a:t>https://github.com/amaan784/hpml-final-project</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000"/>
              <a:buFont typeface="Calibri"/>
              <a:buNone/>
            </a:pPr>
            <a:r>
              <a:rPr b="0" i="0" lang="en" sz="1000" u="none" cap="none" strike="noStrike">
                <a:solidFill>
                  <a:srgbClr val="FFFFFF"/>
                </a:solidFill>
                <a:latin typeface="Calibri"/>
                <a:ea typeface="Calibri"/>
                <a:cs typeface="Calibri"/>
                <a:sym typeface="Calibri"/>
              </a:rPr>
              <a:t>Tracking:  </a:t>
            </a:r>
            <a:r>
              <a:rPr lang="en" sz="1000">
                <a:solidFill>
                  <a:srgbClr val="FFFFFF"/>
                </a:solidFill>
                <a:latin typeface="Calibri"/>
                <a:ea typeface="Calibri"/>
                <a:cs typeface="Calibri"/>
                <a:sym typeface="Calibri"/>
              </a:rPr>
              <a:t>https://wandb.ai/amaan784-columbia-university/hpml-final-benchmark</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 name="Shape 67"/>
        <p:cNvGrpSpPr/>
        <p:nvPr/>
      </p:nvGrpSpPr>
      <p:grpSpPr>
        <a:xfrm>
          <a:off x="0" y="0"/>
          <a:ext cx="0" cy="0"/>
          <a:chOff x="0" y="0"/>
          <a:chExt cx="0" cy="0"/>
        </a:xfrm>
      </p:grpSpPr>
      <p:sp>
        <p:nvSpPr>
          <p:cNvPr id="68" name="Google Shape;68;p16"/>
          <p:cNvSpPr/>
          <p:nvPr/>
        </p:nvSpPr>
        <p:spPr>
          <a:xfrm>
            <a:off x="342900" y="377190"/>
            <a:ext cx="8455914"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400"/>
              <a:buFont typeface="Calibri"/>
              <a:buNone/>
            </a:pPr>
            <a:r>
              <a:rPr b="1" i="0" lang="en" sz="2400" u="none" cap="none" strike="noStrike">
                <a:solidFill>
                  <a:srgbClr val="1A1A1A"/>
                </a:solidFill>
                <a:latin typeface="Calibri"/>
                <a:ea typeface="Calibri"/>
                <a:cs typeface="Calibri"/>
                <a:sym typeface="Calibri"/>
              </a:rPr>
              <a:t>Motivation &amp; Problem</a:t>
            </a:r>
            <a:endParaRPr b="0" i="0" sz="2400" u="none" cap="none" strike="noStrike">
              <a:solidFill>
                <a:schemeClr val="dk1"/>
              </a:solidFill>
              <a:latin typeface="Calibri"/>
              <a:ea typeface="Calibri"/>
              <a:cs typeface="Calibri"/>
              <a:sym typeface="Calibri"/>
            </a:endParaRPr>
          </a:p>
        </p:txBody>
      </p:sp>
      <p:cxnSp>
        <p:nvCxnSpPr>
          <p:cNvPr id="69" name="Google Shape;69;p16"/>
          <p:cNvCxnSpPr/>
          <p:nvPr/>
        </p:nvCxnSpPr>
        <p:spPr>
          <a:xfrm>
            <a:off x="342900" y="891540"/>
            <a:ext cx="8455914" cy="0"/>
          </a:xfrm>
          <a:prstGeom prst="straightConnector1">
            <a:avLst/>
          </a:prstGeom>
          <a:noFill/>
          <a:ln cap="flat" cmpd="sng" w="9525">
            <a:solidFill>
              <a:srgbClr val="D9D9D9"/>
            </a:solidFill>
            <a:prstDash val="solid"/>
            <a:round/>
            <a:headEnd len="sm" w="sm" type="none"/>
            <a:tailEnd len="sm" w="sm" type="none"/>
          </a:ln>
        </p:spPr>
      </p:cxnSp>
      <p:sp>
        <p:nvSpPr>
          <p:cNvPr id="70" name="Google Shape;70;p16"/>
          <p:cNvSpPr/>
          <p:nvPr/>
        </p:nvSpPr>
        <p:spPr>
          <a:xfrm>
            <a:off x="342900" y="994410"/>
            <a:ext cx="82296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800"/>
              <a:buFont typeface="Calibri"/>
              <a:buNone/>
            </a:pPr>
            <a:r>
              <a:t/>
            </a:r>
            <a:endParaRPr b="0" i="0" sz="800" u="none" cap="none" strike="noStrike">
              <a:solidFill>
                <a:schemeClr val="dk1"/>
              </a:solidFill>
              <a:latin typeface="Calibri"/>
              <a:ea typeface="Calibri"/>
              <a:cs typeface="Calibri"/>
              <a:sym typeface="Calibri"/>
            </a:endParaRPr>
          </a:p>
        </p:txBody>
      </p:sp>
      <p:sp>
        <p:nvSpPr>
          <p:cNvPr id="71" name="Google Shape;71;p16"/>
          <p:cNvSpPr/>
          <p:nvPr/>
        </p:nvSpPr>
        <p:spPr>
          <a:xfrm>
            <a:off x="342900" y="1371600"/>
            <a:ext cx="4114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200"/>
              <a:buFont typeface="Calibri"/>
              <a:buNone/>
            </a:pPr>
            <a:r>
              <a:rPr b="1" i="0" lang="en" sz="1800" u="none" cap="none" strike="noStrike">
                <a:solidFill>
                  <a:srgbClr val="1A1A1A"/>
                </a:solidFill>
                <a:latin typeface="Calibri"/>
                <a:ea typeface="Calibri"/>
                <a:cs typeface="Calibri"/>
                <a:sym typeface="Calibri"/>
              </a:rPr>
              <a:t>Why this matters</a:t>
            </a:r>
            <a:endParaRPr b="0" i="0" sz="1800" u="none" cap="none" strike="noStrike">
              <a:solidFill>
                <a:schemeClr val="dk1"/>
              </a:solidFill>
              <a:latin typeface="Calibri"/>
              <a:ea typeface="Calibri"/>
              <a:cs typeface="Calibri"/>
              <a:sym typeface="Calibri"/>
            </a:endParaRPr>
          </a:p>
        </p:txBody>
      </p:sp>
      <p:sp>
        <p:nvSpPr>
          <p:cNvPr id="72" name="Google Shape;72;p16"/>
          <p:cNvSpPr/>
          <p:nvPr/>
        </p:nvSpPr>
        <p:spPr>
          <a:xfrm>
            <a:off x="342900" y="1714500"/>
            <a:ext cx="4114800" cy="2743200"/>
          </a:xfrm>
          <a:prstGeom prst="rect">
            <a:avLst/>
          </a:prstGeom>
          <a:noFill/>
          <a:ln>
            <a:noFill/>
          </a:ln>
        </p:spPr>
        <p:txBody>
          <a:bodyPr anchorCtr="0" anchor="t" bIns="34275" lIns="68575" spcFirstLastPara="1" rIns="68575" wrap="square" tIns="34275">
            <a:noAutofit/>
          </a:bodyPr>
          <a:lstStyle/>
          <a:p>
            <a:pPr indent="-273050" lvl="0" marL="254000" marR="0" rtl="0" algn="l">
              <a:spcBef>
                <a:spcPts val="0"/>
              </a:spcBef>
              <a:spcAft>
                <a:spcPts val="0"/>
              </a:spcAft>
              <a:buClr>
                <a:srgbClr val="1A1A1A"/>
              </a:buClr>
              <a:buSzPts val="1500"/>
              <a:buFont typeface="Calibri"/>
              <a:buChar char="•"/>
            </a:pPr>
            <a:r>
              <a:rPr b="0" i="0" lang="en" sz="1500" u="none" cap="none" strike="noStrike">
                <a:solidFill>
                  <a:srgbClr val="1A1A1A"/>
                </a:solidFill>
                <a:latin typeface="Calibri"/>
                <a:ea typeface="Calibri"/>
                <a:cs typeface="Calibri"/>
                <a:sym typeface="Calibri"/>
              </a:rPr>
              <a:t>AssetOpsBench (AAAI 2026) covers 141 industrial AI scenarios across text and time series, but has no vision component, despite many failure modes (corrosion, ice buildup, bearing damage) appearing visually before sensor data flags them.</a:t>
            </a:r>
            <a:endParaRPr b="0" i="0" sz="1500" u="none" cap="none" strike="noStrike">
              <a:solidFill>
                <a:schemeClr val="dk1"/>
              </a:solidFill>
              <a:latin typeface="Calibri"/>
              <a:ea typeface="Calibri"/>
              <a:cs typeface="Calibri"/>
              <a:sym typeface="Calibri"/>
            </a:endParaRPr>
          </a:p>
          <a:p>
            <a:pPr indent="-273050" lvl="0" marL="254000" marR="0" rtl="0" algn="l">
              <a:spcBef>
                <a:spcPts val="600"/>
              </a:spcBef>
              <a:spcAft>
                <a:spcPts val="0"/>
              </a:spcAft>
              <a:buClr>
                <a:srgbClr val="1A1A1A"/>
              </a:buClr>
              <a:buSzPts val="1500"/>
              <a:buFont typeface="Calibri"/>
              <a:buChar char="•"/>
            </a:pPr>
            <a:r>
              <a:rPr b="0" i="0" lang="en" sz="1500" u="none" cap="none" strike="noStrike">
                <a:solidFill>
                  <a:srgbClr val="1A1A1A"/>
                </a:solidFill>
                <a:latin typeface="Calibri"/>
                <a:ea typeface="Calibri"/>
                <a:cs typeface="Calibri"/>
                <a:sym typeface="Calibri"/>
              </a:rPr>
              <a:t>Serving large VLMs at FP16 is expensive: a limited KV cache pool </a:t>
            </a:r>
            <a:r>
              <a:rPr lang="en" sz="1500">
                <a:solidFill>
                  <a:srgbClr val="1A1A1A"/>
                </a:solidFill>
                <a:latin typeface="Calibri"/>
                <a:ea typeface="Calibri"/>
                <a:cs typeface="Calibri"/>
                <a:sym typeface="Calibri"/>
              </a:rPr>
              <a:t>constraints</a:t>
            </a:r>
            <a:r>
              <a:rPr b="0" i="0" lang="en" sz="1500" u="none" cap="none" strike="noStrike">
                <a:solidFill>
                  <a:srgbClr val="1A1A1A"/>
                </a:solidFill>
                <a:latin typeface="Calibri"/>
                <a:ea typeface="Calibri"/>
                <a:cs typeface="Calibri"/>
                <a:sym typeface="Calibri"/>
              </a:rPr>
              <a:t> throughput for multi-agent industrial workloads.</a:t>
            </a:r>
            <a:endParaRPr b="0" i="0" sz="1500" u="none" cap="none" strike="noStrike">
              <a:solidFill>
                <a:schemeClr val="dk1"/>
              </a:solidFill>
              <a:latin typeface="Calibri"/>
              <a:ea typeface="Calibri"/>
              <a:cs typeface="Calibri"/>
              <a:sym typeface="Calibri"/>
            </a:endParaRPr>
          </a:p>
          <a:p>
            <a:pPr indent="-273050" lvl="0" marL="254000" marR="0" rtl="0" algn="l">
              <a:spcBef>
                <a:spcPts val="600"/>
              </a:spcBef>
              <a:spcAft>
                <a:spcPts val="0"/>
              </a:spcAft>
              <a:buClr>
                <a:srgbClr val="1A1A1A"/>
              </a:buClr>
              <a:buSzPts val="1500"/>
              <a:buFont typeface="Calibri"/>
              <a:buChar char="•"/>
            </a:pPr>
            <a:r>
              <a:rPr b="0" i="0" lang="en" sz="1500" u="none" cap="none" strike="noStrike">
                <a:solidFill>
                  <a:srgbClr val="1A1A1A"/>
                </a:solidFill>
                <a:latin typeface="Calibri"/>
                <a:ea typeface="Calibri"/>
                <a:cs typeface="Calibri"/>
                <a:sym typeface="Calibri"/>
              </a:rPr>
              <a:t>Off-the-shelf quantization (generic calibration) introduces a runaway-generation failure mode</a:t>
            </a:r>
            <a:r>
              <a:rPr lang="en" sz="1500">
                <a:solidFill>
                  <a:srgbClr val="1A1A1A"/>
                </a:solidFill>
                <a:latin typeface="Calibri"/>
                <a:ea typeface="Calibri"/>
                <a:cs typeface="Calibri"/>
                <a:sym typeface="Calibri"/>
              </a:rPr>
              <a:t>. ALso, </a:t>
            </a:r>
            <a:r>
              <a:rPr b="0" i="0" lang="en" sz="1500" u="none" cap="none" strike="noStrike">
                <a:solidFill>
                  <a:srgbClr val="1A1A1A"/>
                </a:solidFill>
                <a:latin typeface="Calibri"/>
                <a:ea typeface="Calibri"/>
                <a:cs typeface="Calibri"/>
                <a:sym typeface="Calibri"/>
              </a:rPr>
              <a:t>Naive INT4 is not reliable enough for industrial deployment.</a:t>
            </a:r>
            <a:endParaRPr b="0" i="0" sz="1500" u="none" cap="none" strike="noStrike">
              <a:solidFill>
                <a:schemeClr val="dk1"/>
              </a:solidFill>
              <a:latin typeface="Calibri"/>
              <a:ea typeface="Calibri"/>
              <a:cs typeface="Calibri"/>
              <a:sym typeface="Calibri"/>
            </a:endParaRPr>
          </a:p>
        </p:txBody>
      </p:sp>
      <p:sp>
        <p:nvSpPr>
          <p:cNvPr id="73" name="Google Shape;73;p16"/>
          <p:cNvSpPr/>
          <p:nvPr/>
        </p:nvSpPr>
        <p:spPr>
          <a:xfrm>
            <a:off x="4697730" y="1371600"/>
            <a:ext cx="4114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200"/>
              <a:buFont typeface="Calibri"/>
              <a:buNone/>
            </a:pPr>
            <a:r>
              <a:rPr b="1" i="0" lang="en" sz="1800" u="none" cap="none" strike="noStrike">
                <a:solidFill>
                  <a:srgbClr val="1A1A1A"/>
                </a:solidFill>
                <a:latin typeface="Calibri"/>
                <a:ea typeface="Calibri"/>
                <a:cs typeface="Calibri"/>
                <a:sym typeface="Calibri"/>
              </a:rPr>
              <a:t>Problem statement</a:t>
            </a:r>
            <a:endParaRPr b="0" i="0" sz="1800" u="none" cap="none" strike="noStrike">
              <a:solidFill>
                <a:schemeClr val="dk1"/>
              </a:solidFill>
              <a:latin typeface="Calibri"/>
              <a:ea typeface="Calibri"/>
              <a:cs typeface="Calibri"/>
              <a:sym typeface="Calibri"/>
            </a:endParaRPr>
          </a:p>
        </p:txBody>
      </p:sp>
      <p:sp>
        <p:nvSpPr>
          <p:cNvPr id="74" name="Google Shape;74;p16"/>
          <p:cNvSpPr/>
          <p:nvPr/>
        </p:nvSpPr>
        <p:spPr>
          <a:xfrm>
            <a:off x="4697730" y="1714500"/>
            <a:ext cx="4114800" cy="27432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1A1A1A"/>
              </a:buClr>
              <a:buSzPts val="1100"/>
              <a:buFont typeface="Calibri"/>
              <a:buNone/>
            </a:pPr>
            <a:r>
              <a:rPr b="0" i="1" lang="en" sz="1500" u="none" cap="none" strike="noStrike">
                <a:solidFill>
                  <a:srgbClr val="1A1A1A"/>
                </a:solidFill>
                <a:latin typeface="Calibri"/>
                <a:ea typeface="Calibri"/>
                <a:cs typeface="Calibri"/>
                <a:sym typeface="Calibri"/>
              </a:rPr>
              <a:t>Can we add a vision modality to AssetOpsBench via a VLM-powered MCP agent and optimize its inference (AWQ quantization, calibration regime) on a single NVIDIA L4 GPU without sacrificing reliability?</a:t>
            </a:r>
            <a:endParaRPr b="0" i="0" sz="15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1A1A1A"/>
              </a:buClr>
              <a:buSzPts val="1100"/>
              <a:buFont typeface="Calibri"/>
              <a:buNone/>
            </a:pPr>
            <a:r>
              <a:rPr b="0" i="0" lang="en" sz="1500" u="none" cap="none" strike="noStrike">
                <a:solidFill>
                  <a:srgbClr val="1A1A1A"/>
                </a:solidFill>
                <a:latin typeface="Calibri"/>
                <a:ea typeface="Calibri"/>
                <a:cs typeface="Calibri"/>
                <a:sym typeface="Calibri"/>
              </a:rPr>
              <a:t> </a:t>
            </a:r>
            <a:endParaRPr b="0" i="0" sz="15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1A1A1A"/>
              </a:buClr>
              <a:buSzPts val="1100"/>
              <a:buFont typeface="Calibri"/>
              <a:buNone/>
            </a:pPr>
            <a:r>
              <a:rPr b="1" i="0" lang="en" sz="1500" u="none" cap="none" strike="noStrike">
                <a:solidFill>
                  <a:srgbClr val="1A1A1A"/>
                </a:solidFill>
                <a:latin typeface="Calibri"/>
                <a:ea typeface="Calibri"/>
                <a:cs typeface="Calibri"/>
                <a:sym typeface="Calibri"/>
              </a:rPr>
              <a:t>Goal: </a:t>
            </a:r>
            <a:r>
              <a:rPr b="0" i="0" lang="en" sz="1500" u="none" cap="none" strike="noStrike">
                <a:solidFill>
                  <a:srgbClr val="1A1A1A"/>
                </a:solidFill>
                <a:latin typeface="Calibri"/>
                <a:ea typeface="Calibri"/>
                <a:cs typeface="Calibri"/>
                <a:sym typeface="Calibri"/>
              </a:rPr>
              <a:t>≥2× E2E speedup with domain-calibrated AWQ INT4 on a single L4 GPU, at maintained reliability.</a:t>
            </a:r>
            <a:endParaRPr b="0" i="0" sz="1500" u="none" cap="none" strike="noStrike">
              <a:solidFill>
                <a:schemeClr val="dk1"/>
              </a:solidFill>
              <a:latin typeface="Calibri"/>
              <a:ea typeface="Calibri"/>
              <a:cs typeface="Calibri"/>
              <a:sym typeface="Calibri"/>
            </a:endParaRPr>
          </a:p>
        </p:txBody>
      </p:sp>
      <p:sp>
        <p:nvSpPr>
          <p:cNvPr id="75" name="Google Shape;75;p16"/>
          <p:cNvSpPr/>
          <p:nvPr/>
        </p:nvSpPr>
        <p:spPr>
          <a:xfrm>
            <a:off x="342900" y="4903470"/>
            <a:ext cx="41148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800"/>
              <a:buFont typeface="Calibri"/>
              <a:buNone/>
            </a:pPr>
            <a:r>
              <a:rPr b="0" i="1" lang="en" sz="800" u="none" cap="none" strike="noStrike">
                <a:solidFill>
                  <a:srgbClr val="6B6F76"/>
                </a:solidFill>
                <a:latin typeface="Calibri"/>
                <a:ea typeface="Calibri"/>
                <a:cs typeface="Calibri"/>
                <a:sym typeface="Calibri"/>
              </a:rPr>
              <a:t>HPML · Spring 2026</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 name="Shape 80"/>
        <p:cNvGrpSpPr/>
        <p:nvPr/>
      </p:nvGrpSpPr>
      <p:grpSpPr>
        <a:xfrm>
          <a:off x="0" y="0"/>
          <a:ext cx="0" cy="0"/>
          <a:chOff x="0" y="0"/>
          <a:chExt cx="0" cy="0"/>
        </a:xfrm>
      </p:grpSpPr>
      <p:sp>
        <p:nvSpPr>
          <p:cNvPr id="81" name="Google Shape;81;p17"/>
          <p:cNvSpPr/>
          <p:nvPr/>
        </p:nvSpPr>
        <p:spPr>
          <a:xfrm>
            <a:off x="342900" y="377190"/>
            <a:ext cx="8455914"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400"/>
              <a:buFont typeface="Calibri"/>
              <a:buNone/>
            </a:pPr>
            <a:r>
              <a:rPr b="1" i="0" lang="en" sz="2400" u="none" cap="none" strike="noStrike">
                <a:solidFill>
                  <a:srgbClr val="1A1A1A"/>
                </a:solidFill>
                <a:latin typeface="Calibri"/>
                <a:ea typeface="Calibri"/>
                <a:cs typeface="Calibri"/>
                <a:sym typeface="Calibri"/>
              </a:rPr>
              <a:t>Technical Approach: Model &amp; Data</a:t>
            </a:r>
            <a:endParaRPr b="0" i="0" sz="2400" u="none" cap="none" strike="noStrike">
              <a:solidFill>
                <a:schemeClr val="dk1"/>
              </a:solidFill>
              <a:latin typeface="Calibri"/>
              <a:ea typeface="Calibri"/>
              <a:cs typeface="Calibri"/>
              <a:sym typeface="Calibri"/>
            </a:endParaRPr>
          </a:p>
        </p:txBody>
      </p:sp>
      <p:cxnSp>
        <p:nvCxnSpPr>
          <p:cNvPr id="82" name="Google Shape;82;p17"/>
          <p:cNvCxnSpPr/>
          <p:nvPr/>
        </p:nvCxnSpPr>
        <p:spPr>
          <a:xfrm>
            <a:off x="342900" y="891540"/>
            <a:ext cx="8455914" cy="0"/>
          </a:xfrm>
          <a:prstGeom prst="straightConnector1">
            <a:avLst/>
          </a:prstGeom>
          <a:noFill/>
          <a:ln cap="flat" cmpd="sng" w="9525">
            <a:solidFill>
              <a:srgbClr val="D9D9D9"/>
            </a:solidFill>
            <a:prstDash val="solid"/>
            <a:round/>
            <a:headEnd len="sm" w="sm" type="none"/>
            <a:tailEnd len="sm" w="sm" type="none"/>
          </a:ln>
        </p:spPr>
      </p:cxnSp>
      <p:sp>
        <p:nvSpPr>
          <p:cNvPr id="83" name="Google Shape;83;p17"/>
          <p:cNvSpPr/>
          <p:nvPr/>
        </p:nvSpPr>
        <p:spPr>
          <a:xfrm>
            <a:off x="342900" y="994410"/>
            <a:ext cx="82296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800"/>
              <a:buFont typeface="Calibri"/>
              <a:buNone/>
            </a:pPr>
            <a:r>
              <a:t/>
            </a:r>
            <a:endParaRPr b="0" i="0" sz="800" u="none" cap="none" strike="noStrike">
              <a:solidFill>
                <a:schemeClr val="dk1"/>
              </a:solidFill>
              <a:latin typeface="Calibri"/>
              <a:ea typeface="Calibri"/>
              <a:cs typeface="Calibri"/>
              <a:sym typeface="Calibri"/>
            </a:endParaRPr>
          </a:p>
        </p:txBody>
      </p:sp>
      <p:sp>
        <p:nvSpPr>
          <p:cNvPr id="84" name="Google Shape;84;p17"/>
          <p:cNvSpPr/>
          <p:nvPr/>
        </p:nvSpPr>
        <p:spPr>
          <a:xfrm>
            <a:off x="342900" y="1371600"/>
            <a:ext cx="2688336" cy="30861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5" name="Google Shape;85;p17"/>
          <p:cNvSpPr/>
          <p:nvPr/>
        </p:nvSpPr>
        <p:spPr>
          <a:xfrm>
            <a:off x="514350" y="1508760"/>
            <a:ext cx="23454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200"/>
              <a:buFont typeface="Calibri"/>
              <a:buNone/>
            </a:pPr>
            <a:r>
              <a:rPr b="1" i="0" lang="en" sz="1200" u="none" cap="none" strike="noStrike">
                <a:solidFill>
                  <a:srgbClr val="1A1A1A"/>
                </a:solidFill>
                <a:latin typeface="Calibri"/>
                <a:ea typeface="Calibri"/>
                <a:cs typeface="Calibri"/>
                <a:sym typeface="Calibri"/>
              </a:rPr>
              <a:t>Model</a:t>
            </a:r>
            <a:endParaRPr b="0" i="0" sz="1200" u="none" cap="none" strike="noStrike">
              <a:solidFill>
                <a:schemeClr val="dk1"/>
              </a:solidFill>
              <a:latin typeface="Calibri"/>
              <a:ea typeface="Calibri"/>
              <a:cs typeface="Calibri"/>
              <a:sym typeface="Calibri"/>
            </a:endParaRPr>
          </a:p>
        </p:txBody>
      </p:sp>
      <p:sp>
        <p:nvSpPr>
          <p:cNvPr id="86" name="Google Shape;86;p17"/>
          <p:cNvSpPr/>
          <p:nvPr/>
        </p:nvSpPr>
        <p:spPr>
          <a:xfrm>
            <a:off x="514350" y="1851660"/>
            <a:ext cx="2345436" cy="2400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100"/>
              <a:buFont typeface="Calibri"/>
              <a:buNone/>
            </a:pPr>
            <a:r>
              <a:rPr b="0" i="0" lang="en" sz="1100" u="none" cap="none" strike="noStrike">
                <a:solidFill>
                  <a:srgbClr val="1A1A1A"/>
                </a:solidFill>
                <a:latin typeface="Calibri"/>
                <a:ea typeface="Calibri"/>
                <a:cs typeface="Calibri"/>
                <a:sym typeface="Calibri"/>
              </a:rPr>
              <a:t>Primary: Qwen2.5-VL-7B-Instruct (7B params, VLM, vLLM 0.19 serving)</a:t>
            </a:r>
            <a:endParaRPr b="0" i="0" sz="1100" u="none" cap="none" strike="noStrike">
              <a:solidFill>
                <a:srgbClr val="1A1A1A"/>
              </a:solidFill>
              <a:latin typeface="Calibri"/>
              <a:ea typeface="Calibri"/>
              <a:cs typeface="Calibri"/>
              <a:sym typeface="Calibri"/>
            </a:endParaRPr>
          </a:p>
          <a:p>
            <a:pPr indent="0" lvl="0" marL="0" marR="0" rtl="0" algn="l">
              <a:spcBef>
                <a:spcPts val="0"/>
              </a:spcBef>
              <a:spcAft>
                <a:spcPts val="0"/>
              </a:spcAft>
              <a:buClr>
                <a:srgbClr val="1A1A1A"/>
              </a:buClr>
              <a:buSzPts val="1100"/>
              <a:buFont typeface="Calibri"/>
              <a:buNone/>
            </a:pPr>
            <a:br>
              <a:rPr b="0" i="0" lang="en" sz="1100" u="none" cap="none" strike="noStrike">
                <a:solidFill>
                  <a:srgbClr val="1A1A1A"/>
                </a:solidFill>
                <a:latin typeface="Calibri"/>
                <a:ea typeface="Calibri"/>
                <a:cs typeface="Calibri"/>
                <a:sym typeface="Calibri"/>
              </a:rPr>
            </a:br>
            <a:r>
              <a:rPr b="0" i="0" lang="en" sz="1100" u="none" cap="none" strike="noStrike">
                <a:solidFill>
                  <a:srgbClr val="1A1A1A"/>
                </a:solidFill>
                <a:latin typeface="Calibri"/>
                <a:ea typeface="Calibri"/>
                <a:cs typeface="Calibri"/>
                <a:sym typeface="Calibri"/>
              </a:rPr>
              <a:t>Baseline: Llama-3-LLaVA-NeXT-8B (8B params, Llama-3 backbone + LLaVA-NeXT vision tower)</a:t>
            </a:r>
            <a:endParaRPr b="0" i="0" sz="1100" u="none" cap="none" strike="noStrike">
              <a:solidFill>
                <a:srgbClr val="1A1A1A"/>
              </a:solidFill>
              <a:latin typeface="Calibri"/>
              <a:ea typeface="Calibri"/>
              <a:cs typeface="Calibri"/>
              <a:sym typeface="Calibri"/>
            </a:endParaRPr>
          </a:p>
          <a:p>
            <a:pPr indent="0" lvl="0" marL="0" marR="0" rtl="0" algn="l">
              <a:spcBef>
                <a:spcPts val="0"/>
              </a:spcBef>
              <a:spcAft>
                <a:spcPts val="0"/>
              </a:spcAft>
              <a:buClr>
                <a:srgbClr val="1A1A1A"/>
              </a:buClr>
              <a:buSzPts val="1100"/>
              <a:buFont typeface="Calibri"/>
              <a:buNone/>
            </a:pPr>
            <a:br>
              <a:rPr b="0" i="0" lang="en" sz="1100" u="none" cap="none" strike="noStrike">
                <a:solidFill>
                  <a:srgbClr val="1A1A1A"/>
                </a:solidFill>
                <a:latin typeface="Calibri"/>
                <a:ea typeface="Calibri"/>
                <a:cs typeface="Calibri"/>
                <a:sym typeface="Calibri"/>
              </a:rPr>
            </a:br>
            <a:r>
              <a:rPr b="0" i="0" lang="en" sz="1100" u="none" cap="none" strike="noStrike">
                <a:solidFill>
                  <a:srgbClr val="1A1A1A"/>
                </a:solidFill>
                <a:latin typeface="Calibri"/>
                <a:ea typeface="Calibri"/>
                <a:cs typeface="Calibri"/>
                <a:sym typeface="Calibri"/>
              </a:rPr>
              <a:t>Orchestration: In-process ReAct agent an</a:t>
            </a:r>
            <a:r>
              <a:rPr lang="en" sz="1100">
                <a:solidFill>
                  <a:srgbClr val="1A1A1A"/>
                </a:solidFill>
                <a:latin typeface="Calibri"/>
                <a:ea typeface="Calibri"/>
                <a:cs typeface="Calibri"/>
                <a:sym typeface="Calibri"/>
              </a:rPr>
              <a:t>d</a:t>
            </a:r>
            <a:r>
              <a:rPr b="0" i="0" lang="en" sz="1100" u="none" cap="none" strike="noStrike">
                <a:solidFill>
                  <a:srgbClr val="1A1A1A"/>
                </a:solidFill>
                <a:latin typeface="Calibri"/>
                <a:ea typeface="Calibri"/>
                <a:cs typeface="Calibri"/>
                <a:sym typeface="Calibri"/>
              </a:rPr>
              <a:t> Plan-execute via MCP stdio subprocess</a:t>
            </a:r>
            <a:endParaRPr b="0" i="0" sz="1100" u="none" cap="none" strike="noStrike">
              <a:solidFill>
                <a:schemeClr val="dk1"/>
              </a:solidFill>
              <a:latin typeface="Calibri"/>
              <a:ea typeface="Calibri"/>
              <a:cs typeface="Calibri"/>
              <a:sym typeface="Calibri"/>
            </a:endParaRPr>
          </a:p>
        </p:txBody>
      </p:sp>
      <p:sp>
        <p:nvSpPr>
          <p:cNvPr id="87" name="Google Shape;87;p17"/>
          <p:cNvSpPr/>
          <p:nvPr/>
        </p:nvSpPr>
        <p:spPr>
          <a:xfrm>
            <a:off x="3236976" y="1371600"/>
            <a:ext cx="2688336" cy="30861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8" name="Google Shape;88;p17"/>
          <p:cNvSpPr/>
          <p:nvPr/>
        </p:nvSpPr>
        <p:spPr>
          <a:xfrm>
            <a:off x="3408426" y="1508760"/>
            <a:ext cx="23454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200"/>
              <a:buFont typeface="Calibri"/>
              <a:buNone/>
            </a:pPr>
            <a:r>
              <a:rPr b="1" i="0" lang="en" sz="1200" u="none" cap="none" strike="noStrike">
                <a:solidFill>
                  <a:srgbClr val="1A1A1A"/>
                </a:solidFill>
                <a:latin typeface="Calibri"/>
                <a:ea typeface="Calibri"/>
                <a:cs typeface="Calibri"/>
                <a:sym typeface="Calibri"/>
              </a:rPr>
              <a:t>Dataset</a:t>
            </a:r>
            <a:endParaRPr b="0" i="0" sz="1200" u="none" cap="none" strike="noStrike">
              <a:solidFill>
                <a:schemeClr val="dk1"/>
              </a:solidFill>
              <a:latin typeface="Calibri"/>
              <a:ea typeface="Calibri"/>
              <a:cs typeface="Calibri"/>
              <a:sym typeface="Calibri"/>
            </a:endParaRPr>
          </a:p>
        </p:txBody>
      </p:sp>
      <p:sp>
        <p:nvSpPr>
          <p:cNvPr id="89" name="Google Shape;89;p17"/>
          <p:cNvSpPr/>
          <p:nvPr/>
        </p:nvSpPr>
        <p:spPr>
          <a:xfrm>
            <a:off x="3408426" y="1851660"/>
            <a:ext cx="2345436" cy="2400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100"/>
              <a:buFont typeface="Calibri"/>
              <a:buNone/>
            </a:pPr>
            <a:r>
              <a:rPr b="0" i="0" lang="en" sz="1100" u="none" cap="none" strike="noStrike">
                <a:solidFill>
                  <a:srgbClr val="1A1A1A"/>
                </a:solidFill>
                <a:latin typeface="Calibri"/>
                <a:ea typeface="Calibri"/>
                <a:cs typeface="Calibri"/>
                <a:sym typeface="Calibri"/>
              </a:rPr>
              <a:t>4 public industrial datasets (~10,800 images total):</a:t>
            </a:r>
            <a:endParaRPr sz="1100">
              <a:solidFill>
                <a:srgbClr val="1A1A1A"/>
              </a:solidFill>
              <a:latin typeface="Calibri"/>
              <a:ea typeface="Calibri"/>
              <a:cs typeface="Calibri"/>
              <a:sym typeface="Calibri"/>
            </a:endParaRPr>
          </a:p>
          <a:p>
            <a:pPr indent="-298450" lvl="0" marL="457200" marR="0" rtl="0" algn="l">
              <a:spcBef>
                <a:spcPts val="0"/>
              </a:spcBef>
              <a:spcAft>
                <a:spcPts val="0"/>
              </a:spcAft>
              <a:buClr>
                <a:srgbClr val="1A1A1A"/>
              </a:buClr>
              <a:buSzPts val="1100"/>
              <a:buFont typeface="Calibri"/>
              <a:buChar char="-"/>
            </a:pPr>
            <a:r>
              <a:rPr b="0" i="0" lang="en" sz="1100" u="none" cap="none" strike="noStrike">
                <a:solidFill>
                  <a:srgbClr val="1A1A1A"/>
                </a:solidFill>
                <a:latin typeface="Calibri"/>
                <a:ea typeface="Calibri"/>
                <a:cs typeface="Calibri"/>
                <a:sym typeface="Calibri"/>
              </a:rPr>
              <a:t>Kaggle Casting Product (pumps, 7,348 images)</a:t>
            </a:r>
            <a:endParaRPr sz="1100">
              <a:solidFill>
                <a:srgbClr val="1A1A1A"/>
              </a:solidFill>
              <a:latin typeface="Calibri"/>
              <a:ea typeface="Calibri"/>
              <a:cs typeface="Calibri"/>
              <a:sym typeface="Calibri"/>
            </a:endParaRPr>
          </a:p>
          <a:p>
            <a:pPr indent="-298450" lvl="0" marL="457200" marR="0" rtl="0" algn="l">
              <a:spcBef>
                <a:spcPts val="0"/>
              </a:spcBef>
              <a:spcAft>
                <a:spcPts val="0"/>
              </a:spcAft>
              <a:buClr>
                <a:srgbClr val="1A1A1A"/>
              </a:buClr>
              <a:buSzPts val="1100"/>
              <a:buFont typeface="Calibri"/>
              <a:buChar char="-"/>
            </a:pPr>
            <a:r>
              <a:rPr b="0" i="0" lang="en" sz="1100" u="none" cap="none" strike="noStrike">
                <a:solidFill>
                  <a:srgbClr val="1A1A1A"/>
                </a:solidFill>
                <a:latin typeface="Calibri"/>
                <a:ea typeface="Calibri"/>
                <a:cs typeface="Calibri"/>
                <a:sym typeface="Calibri"/>
              </a:rPr>
              <a:t>Mendeley Thermal Induction Motor (~488 thermal images, 11 fault classes)</a:t>
            </a:r>
            <a:endParaRPr sz="1100">
              <a:solidFill>
                <a:srgbClr val="1A1A1A"/>
              </a:solidFill>
              <a:latin typeface="Calibri"/>
              <a:ea typeface="Calibri"/>
              <a:cs typeface="Calibri"/>
              <a:sym typeface="Calibri"/>
            </a:endParaRPr>
          </a:p>
          <a:p>
            <a:pPr indent="-298450" lvl="0" marL="457200" marR="0" rtl="0" algn="l">
              <a:spcBef>
                <a:spcPts val="0"/>
              </a:spcBef>
              <a:spcAft>
                <a:spcPts val="0"/>
              </a:spcAft>
              <a:buClr>
                <a:srgbClr val="1A1A1A"/>
              </a:buClr>
              <a:buSzPts val="1100"/>
              <a:buFont typeface="Calibri"/>
              <a:buChar char="-"/>
            </a:pPr>
            <a:r>
              <a:rPr b="0" i="0" lang="en" sz="1100" u="none" cap="none" strike="noStrike">
                <a:solidFill>
                  <a:srgbClr val="1A1A1A"/>
                </a:solidFill>
                <a:latin typeface="Calibri"/>
                <a:ea typeface="Calibri"/>
                <a:cs typeface="Calibri"/>
                <a:sym typeface="Calibri"/>
              </a:rPr>
              <a:t>HuggingFace 15-class Substation Equipment (1,660 RGB photos, YOLO-annotated)</a:t>
            </a:r>
            <a:endParaRPr sz="1100">
              <a:solidFill>
                <a:srgbClr val="1A1A1A"/>
              </a:solidFill>
              <a:latin typeface="Calibri"/>
              <a:ea typeface="Calibri"/>
              <a:cs typeface="Calibri"/>
              <a:sym typeface="Calibri"/>
            </a:endParaRPr>
          </a:p>
          <a:p>
            <a:pPr indent="-298450" lvl="0" marL="457200" marR="0" rtl="0" algn="l">
              <a:spcBef>
                <a:spcPts val="0"/>
              </a:spcBef>
              <a:spcAft>
                <a:spcPts val="0"/>
              </a:spcAft>
              <a:buClr>
                <a:srgbClr val="1A1A1A"/>
              </a:buClr>
              <a:buSzPts val="1100"/>
              <a:buFont typeface="Calibri"/>
              <a:buChar char="-"/>
            </a:pPr>
            <a:r>
              <a:rPr b="0" i="0" lang="en" sz="1100" u="none" cap="none" strike="noStrike">
                <a:solidFill>
                  <a:srgbClr val="1A1A1A"/>
                </a:solidFill>
                <a:latin typeface="Calibri"/>
                <a:ea typeface="Calibri"/>
                <a:cs typeface="Calibri"/>
                <a:sym typeface="Calibri"/>
              </a:rPr>
              <a:t>Blade30 Wind Turbine Blades (1,302 drone images, defect annotations)</a:t>
            </a:r>
            <a:endParaRPr b="0" i="0" sz="1100" u="none" cap="none" strike="noStrike">
              <a:solidFill>
                <a:schemeClr val="dk1"/>
              </a:solidFill>
              <a:latin typeface="Calibri"/>
              <a:ea typeface="Calibri"/>
              <a:cs typeface="Calibri"/>
              <a:sym typeface="Calibri"/>
            </a:endParaRPr>
          </a:p>
        </p:txBody>
      </p:sp>
      <p:sp>
        <p:nvSpPr>
          <p:cNvPr id="90" name="Google Shape;90;p17"/>
          <p:cNvSpPr/>
          <p:nvPr/>
        </p:nvSpPr>
        <p:spPr>
          <a:xfrm>
            <a:off x="6131052" y="1371600"/>
            <a:ext cx="2688336" cy="30861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1" name="Google Shape;91;p17"/>
          <p:cNvSpPr/>
          <p:nvPr/>
        </p:nvSpPr>
        <p:spPr>
          <a:xfrm>
            <a:off x="6302502" y="1508760"/>
            <a:ext cx="23454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200"/>
              <a:buFont typeface="Calibri"/>
              <a:buNone/>
            </a:pPr>
            <a:r>
              <a:rPr b="1" i="0" lang="en" sz="1200" u="none" cap="none" strike="noStrike">
                <a:solidFill>
                  <a:srgbClr val="1A1A1A"/>
                </a:solidFill>
                <a:latin typeface="Calibri"/>
                <a:ea typeface="Calibri"/>
                <a:cs typeface="Calibri"/>
                <a:sym typeface="Calibri"/>
              </a:rPr>
              <a:t>Hardware</a:t>
            </a:r>
            <a:endParaRPr b="0" i="0" sz="1200" u="none" cap="none" strike="noStrike">
              <a:solidFill>
                <a:schemeClr val="dk1"/>
              </a:solidFill>
              <a:latin typeface="Calibri"/>
              <a:ea typeface="Calibri"/>
              <a:cs typeface="Calibri"/>
              <a:sym typeface="Calibri"/>
            </a:endParaRPr>
          </a:p>
        </p:txBody>
      </p:sp>
      <p:sp>
        <p:nvSpPr>
          <p:cNvPr id="92" name="Google Shape;92;p17"/>
          <p:cNvSpPr/>
          <p:nvPr/>
        </p:nvSpPr>
        <p:spPr>
          <a:xfrm>
            <a:off x="6302502" y="1851660"/>
            <a:ext cx="2345436" cy="2400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100"/>
              <a:buFont typeface="Calibri"/>
              <a:buNone/>
            </a:pPr>
            <a:r>
              <a:rPr b="0" i="0" lang="en" sz="1100" u="none" cap="none" strike="noStrike">
                <a:solidFill>
                  <a:srgbClr val="1A1A1A"/>
                </a:solidFill>
                <a:latin typeface="Calibri"/>
                <a:ea typeface="Calibri"/>
                <a:cs typeface="Calibri"/>
                <a:sym typeface="Calibri"/>
              </a:rPr>
              <a:t>GCP g2-standard-8, 1× NVIDIA L4 GPU (24 GB VRAM)</a:t>
            </a:r>
            <a:br>
              <a:rPr b="0" i="0" lang="en" sz="1100" u="none" cap="none" strike="noStrike">
                <a:solidFill>
                  <a:srgbClr val="1A1A1A"/>
                </a:solidFill>
                <a:latin typeface="Calibri"/>
                <a:ea typeface="Calibri"/>
                <a:cs typeface="Calibri"/>
                <a:sym typeface="Calibri"/>
              </a:rPr>
            </a:br>
            <a:r>
              <a:rPr b="0" i="0" lang="en" sz="1100" u="none" cap="none" strike="noStrike">
                <a:solidFill>
                  <a:srgbClr val="1A1A1A"/>
                </a:solidFill>
                <a:latin typeface="Calibri"/>
                <a:ea typeface="Calibri"/>
                <a:cs typeface="Calibri"/>
                <a:sym typeface="Calibri"/>
              </a:rPr>
              <a:t>vLLM 0.19.0, PyTorch, llmcompressor 0.10.0.2, transformers 4.57</a:t>
            </a:r>
            <a:br>
              <a:rPr b="0" i="0" lang="en" sz="1100" u="none" cap="none" strike="noStrike">
                <a:solidFill>
                  <a:srgbClr val="1A1A1A"/>
                </a:solidFill>
                <a:latin typeface="Calibri"/>
                <a:ea typeface="Calibri"/>
                <a:cs typeface="Calibri"/>
                <a:sym typeface="Calibri"/>
              </a:rPr>
            </a:br>
            <a:endParaRPr b="0" i="0" sz="1100" u="none" cap="none" strike="noStrike">
              <a:solidFill>
                <a:schemeClr val="dk1"/>
              </a:solidFill>
              <a:latin typeface="Calibri"/>
              <a:ea typeface="Calibri"/>
              <a:cs typeface="Calibri"/>
              <a:sym typeface="Calibri"/>
            </a:endParaRPr>
          </a:p>
        </p:txBody>
      </p:sp>
      <p:sp>
        <p:nvSpPr>
          <p:cNvPr id="93" name="Google Shape;93;p17"/>
          <p:cNvSpPr/>
          <p:nvPr/>
        </p:nvSpPr>
        <p:spPr>
          <a:xfrm>
            <a:off x="342900" y="4903470"/>
            <a:ext cx="41148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800"/>
              <a:buFont typeface="Calibri"/>
              <a:buNone/>
            </a:pPr>
            <a:r>
              <a:rPr b="0" i="1" lang="en" sz="800" u="none" cap="none" strike="noStrike">
                <a:solidFill>
                  <a:srgbClr val="6B6F76"/>
                </a:solidFill>
                <a:latin typeface="Calibri"/>
                <a:ea typeface="Calibri"/>
                <a:cs typeface="Calibri"/>
                <a:sym typeface="Calibri"/>
              </a:rPr>
              <a:t>HPML · Spring 2026</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8" name="Shape 98"/>
        <p:cNvGrpSpPr/>
        <p:nvPr/>
      </p:nvGrpSpPr>
      <p:grpSpPr>
        <a:xfrm>
          <a:off x="0" y="0"/>
          <a:ext cx="0" cy="0"/>
          <a:chOff x="0" y="0"/>
          <a:chExt cx="0" cy="0"/>
        </a:xfrm>
      </p:grpSpPr>
      <p:sp>
        <p:nvSpPr>
          <p:cNvPr id="99" name="Google Shape;99;p18"/>
          <p:cNvSpPr/>
          <p:nvPr/>
        </p:nvSpPr>
        <p:spPr>
          <a:xfrm>
            <a:off x="342900" y="377190"/>
            <a:ext cx="8455914"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400"/>
              <a:buFont typeface="Calibri"/>
              <a:buNone/>
            </a:pPr>
            <a:r>
              <a:rPr b="1" i="0" lang="en" sz="2400" u="none" cap="none" strike="noStrike">
                <a:solidFill>
                  <a:srgbClr val="1A1A1A"/>
                </a:solidFill>
                <a:latin typeface="Calibri"/>
                <a:ea typeface="Calibri"/>
                <a:cs typeface="Calibri"/>
                <a:sym typeface="Calibri"/>
              </a:rPr>
              <a:t>Technical Approach: Optimizations Applied</a:t>
            </a:r>
            <a:endParaRPr b="0" i="0" sz="2400" u="none" cap="none" strike="noStrike">
              <a:solidFill>
                <a:schemeClr val="dk1"/>
              </a:solidFill>
              <a:latin typeface="Calibri"/>
              <a:ea typeface="Calibri"/>
              <a:cs typeface="Calibri"/>
              <a:sym typeface="Calibri"/>
            </a:endParaRPr>
          </a:p>
        </p:txBody>
      </p:sp>
      <p:cxnSp>
        <p:nvCxnSpPr>
          <p:cNvPr id="100" name="Google Shape;100;p18"/>
          <p:cNvCxnSpPr/>
          <p:nvPr/>
        </p:nvCxnSpPr>
        <p:spPr>
          <a:xfrm>
            <a:off x="342900" y="891540"/>
            <a:ext cx="8455914" cy="0"/>
          </a:xfrm>
          <a:prstGeom prst="straightConnector1">
            <a:avLst/>
          </a:prstGeom>
          <a:noFill/>
          <a:ln cap="flat" cmpd="sng" w="9525">
            <a:solidFill>
              <a:srgbClr val="D9D9D9"/>
            </a:solidFill>
            <a:prstDash val="solid"/>
            <a:round/>
            <a:headEnd len="sm" w="sm" type="none"/>
            <a:tailEnd len="sm" w="sm" type="none"/>
          </a:ln>
        </p:spPr>
      </p:cxnSp>
      <p:sp>
        <p:nvSpPr>
          <p:cNvPr id="101" name="Google Shape;101;p18"/>
          <p:cNvSpPr/>
          <p:nvPr/>
        </p:nvSpPr>
        <p:spPr>
          <a:xfrm>
            <a:off x="342900" y="994410"/>
            <a:ext cx="82296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800"/>
              <a:buFont typeface="Calibri"/>
              <a:buNone/>
            </a:pPr>
            <a:r>
              <a:t/>
            </a:r>
            <a:endParaRPr b="0" i="0" sz="800" u="none" cap="none" strike="noStrike">
              <a:solidFill>
                <a:schemeClr val="dk1"/>
              </a:solidFill>
              <a:latin typeface="Calibri"/>
              <a:ea typeface="Calibri"/>
              <a:cs typeface="Calibri"/>
              <a:sym typeface="Calibri"/>
            </a:endParaRPr>
          </a:p>
        </p:txBody>
      </p:sp>
      <p:sp>
        <p:nvSpPr>
          <p:cNvPr id="102" name="Google Shape;102;p18"/>
          <p:cNvSpPr/>
          <p:nvPr/>
        </p:nvSpPr>
        <p:spPr>
          <a:xfrm>
            <a:off x="342900" y="1405890"/>
            <a:ext cx="3429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700"/>
              <a:buFont typeface="Calibri"/>
              <a:buNone/>
            </a:pPr>
            <a:r>
              <a:rPr b="1" i="0" lang="en" sz="1700" u="none" cap="none" strike="noStrike">
                <a:solidFill>
                  <a:srgbClr val="1A1A1A"/>
                </a:solidFill>
                <a:latin typeface="Calibri"/>
                <a:ea typeface="Calibri"/>
                <a:cs typeface="Calibri"/>
                <a:sym typeface="Calibri"/>
              </a:rPr>
              <a:t>1.</a:t>
            </a:r>
            <a:endParaRPr b="0" i="0" sz="1700" u="none" cap="none" strike="noStrike">
              <a:solidFill>
                <a:schemeClr val="dk1"/>
              </a:solidFill>
              <a:latin typeface="Calibri"/>
              <a:ea typeface="Calibri"/>
              <a:cs typeface="Calibri"/>
              <a:sym typeface="Calibri"/>
            </a:endParaRPr>
          </a:p>
        </p:txBody>
      </p:sp>
      <p:sp>
        <p:nvSpPr>
          <p:cNvPr id="103" name="Google Shape;103;p18"/>
          <p:cNvSpPr/>
          <p:nvPr/>
        </p:nvSpPr>
        <p:spPr>
          <a:xfrm>
            <a:off x="720090" y="1405890"/>
            <a:ext cx="802386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500"/>
              <a:buFont typeface="Calibri"/>
              <a:buNone/>
            </a:pPr>
            <a:r>
              <a:rPr b="1" i="0" lang="en" sz="1500" u="none" cap="none" strike="noStrike">
                <a:solidFill>
                  <a:srgbClr val="1A1A1A"/>
                </a:solidFill>
                <a:latin typeface="Calibri"/>
                <a:ea typeface="Calibri"/>
                <a:cs typeface="Calibri"/>
                <a:sym typeface="Calibri"/>
              </a:rPr>
              <a:t>AWQ W4A16 Quantization with Domain Calibration (L1d)</a:t>
            </a:r>
            <a:endParaRPr b="0" i="0" sz="1500" u="none" cap="none" strike="noStrike">
              <a:solidFill>
                <a:schemeClr val="dk1"/>
              </a:solidFill>
              <a:latin typeface="Calibri"/>
              <a:ea typeface="Calibri"/>
              <a:cs typeface="Calibri"/>
              <a:sym typeface="Calibri"/>
            </a:endParaRPr>
          </a:p>
        </p:txBody>
      </p:sp>
      <p:sp>
        <p:nvSpPr>
          <p:cNvPr id="104" name="Google Shape;104;p18"/>
          <p:cNvSpPr/>
          <p:nvPr/>
        </p:nvSpPr>
        <p:spPr>
          <a:xfrm>
            <a:off x="720090" y="1663155"/>
            <a:ext cx="8023800" cy="58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100"/>
              <a:buFont typeface="Calibri"/>
              <a:buNone/>
            </a:pPr>
            <a:r>
              <a:rPr b="0" i="0" lang="en" sz="1500" u="none" cap="none" strike="noStrike">
                <a:solidFill>
                  <a:srgbClr val="6B6F76"/>
                </a:solidFill>
                <a:latin typeface="Calibri"/>
                <a:ea typeface="Calibri"/>
                <a:cs typeface="Calibri"/>
                <a:sym typeface="Calibri"/>
              </a:rPr>
              <a:t>INT4 weight quantization calibrated on 128 domain-specific industrial-inspection prompts: </a:t>
            </a:r>
            <a:r>
              <a:rPr lang="en" sz="1500">
                <a:solidFill>
                  <a:srgbClr val="6B6F76"/>
                </a:solidFill>
                <a:latin typeface="Calibri"/>
                <a:ea typeface="Calibri"/>
                <a:cs typeface="Calibri"/>
                <a:sym typeface="Calibri"/>
              </a:rPr>
              <a:t>1.98x Qwen L1d</a:t>
            </a:r>
            <a:r>
              <a:rPr b="0" i="0" lang="en" sz="1500" u="none" cap="none" strike="noStrike">
                <a:solidFill>
                  <a:srgbClr val="6B6F76"/>
                </a:solidFill>
                <a:latin typeface="Calibri"/>
                <a:ea typeface="Calibri"/>
                <a:cs typeface="Calibri"/>
                <a:sym typeface="Calibri"/>
              </a:rPr>
              <a:t> speedup, 4.7× KV cache capacity</a:t>
            </a:r>
            <a:endParaRPr b="0" i="0" sz="1500" u="none" cap="none" strike="noStrike">
              <a:solidFill>
                <a:schemeClr val="dk1"/>
              </a:solidFill>
              <a:latin typeface="Calibri"/>
              <a:ea typeface="Calibri"/>
              <a:cs typeface="Calibri"/>
              <a:sym typeface="Calibri"/>
            </a:endParaRPr>
          </a:p>
        </p:txBody>
      </p:sp>
      <p:sp>
        <p:nvSpPr>
          <p:cNvPr id="105" name="Google Shape;105;p18"/>
          <p:cNvSpPr/>
          <p:nvPr/>
        </p:nvSpPr>
        <p:spPr>
          <a:xfrm>
            <a:off x="342900" y="2468880"/>
            <a:ext cx="3429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700"/>
              <a:buFont typeface="Calibri"/>
              <a:buNone/>
            </a:pPr>
            <a:r>
              <a:rPr b="1" i="0" lang="en" sz="1700" u="none" cap="none" strike="noStrike">
                <a:solidFill>
                  <a:srgbClr val="1A1A1A"/>
                </a:solidFill>
                <a:latin typeface="Calibri"/>
                <a:ea typeface="Calibri"/>
                <a:cs typeface="Calibri"/>
                <a:sym typeface="Calibri"/>
              </a:rPr>
              <a:t>2.</a:t>
            </a:r>
            <a:endParaRPr b="0" i="0" sz="1700" u="none" cap="none" strike="noStrike">
              <a:solidFill>
                <a:schemeClr val="dk1"/>
              </a:solidFill>
              <a:latin typeface="Calibri"/>
              <a:ea typeface="Calibri"/>
              <a:cs typeface="Calibri"/>
              <a:sym typeface="Calibri"/>
            </a:endParaRPr>
          </a:p>
        </p:txBody>
      </p:sp>
      <p:sp>
        <p:nvSpPr>
          <p:cNvPr id="106" name="Google Shape;106;p18"/>
          <p:cNvSpPr/>
          <p:nvPr/>
        </p:nvSpPr>
        <p:spPr>
          <a:xfrm>
            <a:off x="720090" y="2468880"/>
            <a:ext cx="802386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500"/>
              <a:buFont typeface="Calibri"/>
              <a:buNone/>
            </a:pPr>
            <a:r>
              <a:rPr b="1" i="0" lang="en" sz="1500" u="none" cap="none" strike="noStrike">
                <a:solidFill>
                  <a:srgbClr val="1A1A1A"/>
                </a:solidFill>
                <a:latin typeface="Calibri"/>
                <a:ea typeface="Calibri"/>
                <a:cs typeface="Calibri"/>
                <a:sym typeface="Calibri"/>
              </a:rPr>
              <a:t>AWQ W4A16 Quantization with Generic Calibration (L1g)</a:t>
            </a:r>
            <a:endParaRPr b="0" i="0" sz="1500" u="none" cap="none" strike="noStrike">
              <a:solidFill>
                <a:schemeClr val="dk1"/>
              </a:solidFill>
              <a:latin typeface="Calibri"/>
              <a:ea typeface="Calibri"/>
              <a:cs typeface="Calibri"/>
              <a:sym typeface="Calibri"/>
            </a:endParaRPr>
          </a:p>
        </p:txBody>
      </p:sp>
      <p:sp>
        <p:nvSpPr>
          <p:cNvPr id="107" name="Google Shape;107;p18"/>
          <p:cNvSpPr/>
          <p:nvPr/>
        </p:nvSpPr>
        <p:spPr>
          <a:xfrm>
            <a:off x="720090" y="2846070"/>
            <a:ext cx="8023860" cy="5829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100"/>
              <a:buFont typeface="Calibri"/>
              <a:buNone/>
            </a:pPr>
            <a:r>
              <a:rPr b="0" i="0" lang="en" sz="1500" u="none" cap="none" strike="noStrike">
                <a:solidFill>
                  <a:srgbClr val="6B6F76"/>
                </a:solidFill>
                <a:latin typeface="Calibri"/>
                <a:ea typeface="Calibri"/>
                <a:cs typeface="Calibri"/>
                <a:sym typeface="Calibri"/>
              </a:rPr>
              <a:t>Same INT4 quantization but calibrated on generic ultrachat_200k samples: 2.55× median speedup (p50) </a:t>
            </a:r>
            <a:endParaRPr b="0" i="0" sz="1500" u="none" cap="none" strike="noStrike">
              <a:solidFill>
                <a:schemeClr val="dk1"/>
              </a:solidFill>
              <a:latin typeface="Calibri"/>
              <a:ea typeface="Calibri"/>
              <a:cs typeface="Calibri"/>
              <a:sym typeface="Calibri"/>
            </a:endParaRPr>
          </a:p>
        </p:txBody>
      </p:sp>
      <p:sp>
        <p:nvSpPr>
          <p:cNvPr id="108" name="Google Shape;108;p18"/>
          <p:cNvSpPr/>
          <p:nvPr/>
        </p:nvSpPr>
        <p:spPr>
          <a:xfrm>
            <a:off x="342900" y="3531870"/>
            <a:ext cx="3429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700"/>
              <a:buFont typeface="Calibri"/>
              <a:buNone/>
            </a:pPr>
            <a:r>
              <a:rPr b="1" i="0" lang="en" sz="1700" u="none" cap="none" strike="noStrike">
                <a:solidFill>
                  <a:srgbClr val="1A1A1A"/>
                </a:solidFill>
                <a:latin typeface="Calibri"/>
                <a:ea typeface="Calibri"/>
                <a:cs typeface="Calibri"/>
                <a:sym typeface="Calibri"/>
              </a:rPr>
              <a:t>3.</a:t>
            </a:r>
            <a:endParaRPr b="0" i="0" sz="1700" u="none" cap="none" strike="noStrike">
              <a:solidFill>
                <a:schemeClr val="dk1"/>
              </a:solidFill>
              <a:latin typeface="Calibri"/>
              <a:ea typeface="Calibri"/>
              <a:cs typeface="Calibri"/>
              <a:sym typeface="Calibri"/>
            </a:endParaRPr>
          </a:p>
        </p:txBody>
      </p:sp>
      <p:sp>
        <p:nvSpPr>
          <p:cNvPr id="109" name="Google Shape;109;p18"/>
          <p:cNvSpPr/>
          <p:nvPr/>
        </p:nvSpPr>
        <p:spPr>
          <a:xfrm>
            <a:off x="720090" y="3531870"/>
            <a:ext cx="802386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500"/>
              <a:buFont typeface="Calibri"/>
              <a:buNone/>
            </a:pPr>
            <a:r>
              <a:rPr b="1" i="0" lang="en" sz="1500" u="none" cap="none" strike="noStrike">
                <a:solidFill>
                  <a:srgbClr val="1A1A1A"/>
                </a:solidFill>
                <a:latin typeface="Calibri"/>
                <a:ea typeface="Calibri"/>
                <a:cs typeface="Calibri"/>
                <a:sym typeface="Calibri"/>
              </a:rPr>
              <a:t>Visual Inspection MCP Agent + vLLM Serving</a:t>
            </a:r>
            <a:endParaRPr b="0" i="0" sz="1500" u="none" cap="none" strike="noStrike">
              <a:solidFill>
                <a:schemeClr val="dk1"/>
              </a:solidFill>
              <a:latin typeface="Calibri"/>
              <a:ea typeface="Calibri"/>
              <a:cs typeface="Calibri"/>
              <a:sym typeface="Calibri"/>
            </a:endParaRPr>
          </a:p>
        </p:txBody>
      </p:sp>
      <p:sp>
        <p:nvSpPr>
          <p:cNvPr id="110" name="Google Shape;110;p18"/>
          <p:cNvSpPr/>
          <p:nvPr/>
        </p:nvSpPr>
        <p:spPr>
          <a:xfrm>
            <a:off x="720090" y="3909060"/>
            <a:ext cx="8023860" cy="5829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100"/>
              <a:buFont typeface="Calibri"/>
              <a:buNone/>
            </a:pPr>
            <a:r>
              <a:rPr b="0" i="0" lang="en" sz="1500" u="none" cap="none" strike="noStrike">
                <a:solidFill>
                  <a:srgbClr val="6B6F76"/>
                </a:solidFill>
                <a:latin typeface="Calibri"/>
                <a:ea typeface="Calibri"/>
                <a:cs typeface="Calibri"/>
                <a:sym typeface="Calibri"/>
              </a:rPr>
              <a:t>VLM served via vLLM with MCP stdio interface; exposes vision.analyze_image, vision.assess_condition, and vision.detect_visual_defects tools conforming to the AssetOpsBench agent contract.</a:t>
            </a:r>
            <a:endParaRPr b="0" i="0" sz="1500" u="none" cap="none" strike="noStrike">
              <a:solidFill>
                <a:schemeClr val="dk1"/>
              </a:solidFill>
              <a:latin typeface="Calibri"/>
              <a:ea typeface="Calibri"/>
              <a:cs typeface="Calibri"/>
              <a:sym typeface="Calibri"/>
            </a:endParaRPr>
          </a:p>
        </p:txBody>
      </p:sp>
      <p:sp>
        <p:nvSpPr>
          <p:cNvPr id="111" name="Google Shape;111;p18"/>
          <p:cNvSpPr/>
          <p:nvPr/>
        </p:nvSpPr>
        <p:spPr>
          <a:xfrm>
            <a:off x="342900" y="4903470"/>
            <a:ext cx="41148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800"/>
              <a:buFont typeface="Calibri"/>
              <a:buNone/>
            </a:pPr>
            <a:r>
              <a:rPr b="0" i="1" lang="en" sz="800" u="none" cap="none" strike="noStrike">
                <a:solidFill>
                  <a:srgbClr val="6B6F76"/>
                </a:solidFill>
                <a:latin typeface="Calibri"/>
                <a:ea typeface="Calibri"/>
                <a:cs typeface="Calibri"/>
                <a:sym typeface="Calibri"/>
              </a:rPr>
              <a:t>HPML · Spring 2026</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6" name="Shape 116"/>
        <p:cNvGrpSpPr/>
        <p:nvPr/>
      </p:nvGrpSpPr>
      <p:grpSpPr>
        <a:xfrm>
          <a:off x="0" y="0"/>
          <a:ext cx="0" cy="0"/>
          <a:chOff x="0" y="0"/>
          <a:chExt cx="0" cy="0"/>
        </a:xfrm>
      </p:grpSpPr>
      <p:sp>
        <p:nvSpPr>
          <p:cNvPr id="117" name="Google Shape;117;p19"/>
          <p:cNvSpPr/>
          <p:nvPr/>
        </p:nvSpPr>
        <p:spPr>
          <a:xfrm>
            <a:off x="342900" y="377190"/>
            <a:ext cx="8455914"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400"/>
              <a:buFont typeface="Calibri"/>
              <a:buNone/>
            </a:pPr>
            <a:r>
              <a:rPr b="1" i="0" lang="en" sz="2400" u="none" cap="none" strike="noStrike">
                <a:solidFill>
                  <a:srgbClr val="1A1A1A"/>
                </a:solidFill>
                <a:latin typeface="Calibri"/>
                <a:ea typeface="Calibri"/>
                <a:cs typeface="Calibri"/>
                <a:sym typeface="Calibri"/>
              </a:rPr>
              <a:t>Profiling Methodology</a:t>
            </a:r>
            <a:endParaRPr b="0" i="0" sz="2400" u="none" cap="none" strike="noStrike">
              <a:solidFill>
                <a:schemeClr val="dk1"/>
              </a:solidFill>
              <a:latin typeface="Calibri"/>
              <a:ea typeface="Calibri"/>
              <a:cs typeface="Calibri"/>
              <a:sym typeface="Calibri"/>
            </a:endParaRPr>
          </a:p>
        </p:txBody>
      </p:sp>
      <p:cxnSp>
        <p:nvCxnSpPr>
          <p:cNvPr id="118" name="Google Shape;118;p19"/>
          <p:cNvCxnSpPr/>
          <p:nvPr/>
        </p:nvCxnSpPr>
        <p:spPr>
          <a:xfrm>
            <a:off x="342900" y="891540"/>
            <a:ext cx="8455914" cy="0"/>
          </a:xfrm>
          <a:prstGeom prst="straightConnector1">
            <a:avLst/>
          </a:prstGeom>
          <a:noFill/>
          <a:ln cap="flat" cmpd="sng" w="9525">
            <a:solidFill>
              <a:srgbClr val="D9D9D9"/>
            </a:solidFill>
            <a:prstDash val="solid"/>
            <a:round/>
            <a:headEnd len="sm" w="sm" type="none"/>
            <a:tailEnd len="sm" w="sm" type="none"/>
          </a:ln>
        </p:spPr>
      </p:cxnSp>
      <p:sp>
        <p:nvSpPr>
          <p:cNvPr id="119" name="Google Shape;119;p19"/>
          <p:cNvSpPr/>
          <p:nvPr/>
        </p:nvSpPr>
        <p:spPr>
          <a:xfrm>
            <a:off x="342900" y="994410"/>
            <a:ext cx="82296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800"/>
              <a:buFont typeface="Calibri"/>
              <a:buNone/>
            </a:pPr>
            <a:r>
              <a:t/>
            </a:r>
            <a:endParaRPr b="0" i="0" sz="800" u="none" cap="none" strike="noStrike">
              <a:solidFill>
                <a:schemeClr val="dk1"/>
              </a:solidFill>
              <a:latin typeface="Calibri"/>
              <a:ea typeface="Calibri"/>
              <a:cs typeface="Calibri"/>
              <a:sym typeface="Calibri"/>
            </a:endParaRPr>
          </a:p>
        </p:txBody>
      </p:sp>
      <p:sp>
        <p:nvSpPr>
          <p:cNvPr id="120" name="Google Shape;120;p19"/>
          <p:cNvSpPr/>
          <p:nvPr/>
        </p:nvSpPr>
        <p:spPr>
          <a:xfrm>
            <a:off x="342900" y="1371600"/>
            <a:ext cx="4114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200"/>
              <a:buFont typeface="Calibri"/>
              <a:buNone/>
            </a:pPr>
            <a:r>
              <a:rPr b="1" i="0" lang="en" sz="1900" u="none" cap="none" strike="noStrike">
                <a:solidFill>
                  <a:srgbClr val="1A1A1A"/>
                </a:solidFill>
                <a:latin typeface="Calibri"/>
                <a:ea typeface="Calibri"/>
                <a:cs typeface="Calibri"/>
                <a:sym typeface="Calibri"/>
              </a:rPr>
              <a:t>Tools</a:t>
            </a:r>
            <a:endParaRPr b="0" i="0" sz="1900" u="none" cap="none" strike="noStrike">
              <a:solidFill>
                <a:schemeClr val="dk1"/>
              </a:solidFill>
              <a:latin typeface="Calibri"/>
              <a:ea typeface="Calibri"/>
              <a:cs typeface="Calibri"/>
              <a:sym typeface="Calibri"/>
            </a:endParaRPr>
          </a:p>
        </p:txBody>
      </p:sp>
      <p:sp>
        <p:nvSpPr>
          <p:cNvPr id="121" name="Google Shape;121;p19"/>
          <p:cNvSpPr/>
          <p:nvPr/>
        </p:nvSpPr>
        <p:spPr>
          <a:xfrm>
            <a:off x="342900" y="1714500"/>
            <a:ext cx="4114800" cy="2743200"/>
          </a:xfrm>
          <a:prstGeom prst="rect">
            <a:avLst/>
          </a:prstGeom>
          <a:noFill/>
          <a:ln>
            <a:noFill/>
          </a:ln>
        </p:spPr>
        <p:txBody>
          <a:bodyPr anchorCtr="0" anchor="t" bIns="34275" lIns="68575" spcFirstLastPara="1" rIns="68575" wrap="square" tIns="34275">
            <a:noAutofit/>
          </a:bodyPr>
          <a:lstStyle/>
          <a:p>
            <a:pPr indent="-285750" lvl="0" marL="254000" marR="0" rtl="0" algn="l">
              <a:spcBef>
                <a:spcPts val="0"/>
              </a:spcBef>
              <a:spcAft>
                <a:spcPts val="0"/>
              </a:spcAft>
              <a:buClr>
                <a:srgbClr val="1A1A1A"/>
              </a:buClr>
              <a:buSzPts val="1700"/>
              <a:buFont typeface="Calibri"/>
              <a:buChar char="•"/>
            </a:pPr>
            <a:r>
              <a:rPr b="0" i="0" lang="en" sz="1700" u="none" cap="none" strike="noStrike">
                <a:solidFill>
                  <a:srgbClr val="1A1A1A"/>
                </a:solidFill>
                <a:latin typeface="Calibri"/>
                <a:ea typeface="Calibri"/>
                <a:cs typeface="Calibri"/>
                <a:sym typeface="Calibri"/>
              </a:rPr>
              <a:t>PyTorch Profiler / torch.profiler</a:t>
            </a:r>
            <a:endParaRPr b="0" i="0" sz="1700" u="none" cap="none" strike="noStrike">
              <a:solidFill>
                <a:schemeClr val="dk1"/>
              </a:solidFill>
              <a:latin typeface="Calibri"/>
              <a:ea typeface="Calibri"/>
              <a:cs typeface="Calibri"/>
              <a:sym typeface="Calibri"/>
            </a:endParaRPr>
          </a:p>
          <a:p>
            <a:pPr indent="-285750" lvl="0" marL="254000" marR="0" rtl="0" algn="l">
              <a:spcBef>
                <a:spcPts val="600"/>
              </a:spcBef>
              <a:spcAft>
                <a:spcPts val="0"/>
              </a:spcAft>
              <a:buClr>
                <a:srgbClr val="1A1A1A"/>
              </a:buClr>
              <a:buSzPts val="1700"/>
              <a:buFont typeface="Calibri"/>
              <a:buChar char="•"/>
            </a:pPr>
            <a:r>
              <a:rPr b="0" i="0" lang="en" sz="1700" u="none" cap="none" strike="noStrike">
                <a:solidFill>
                  <a:srgbClr val="1A1A1A"/>
                </a:solidFill>
                <a:latin typeface="Calibri"/>
                <a:ea typeface="Calibri"/>
                <a:cs typeface="Calibri"/>
                <a:sym typeface="Calibri"/>
              </a:rPr>
              <a:t>vLLM Prometheus metrics endpoint</a:t>
            </a:r>
            <a:endParaRPr b="0" i="0" sz="1700" u="none" cap="none" strike="noStrike">
              <a:solidFill>
                <a:schemeClr val="dk1"/>
              </a:solidFill>
              <a:latin typeface="Calibri"/>
              <a:ea typeface="Calibri"/>
              <a:cs typeface="Calibri"/>
              <a:sym typeface="Calibri"/>
            </a:endParaRPr>
          </a:p>
          <a:p>
            <a:pPr indent="-285750" lvl="0" marL="254000" marR="0" rtl="0" algn="l">
              <a:spcBef>
                <a:spcPts val="600"/>
              </a:spcBef>
              <a:spcAft>
                <a:spcPts val="0"/>
              </a:spcAft>
              <a:buClr>
                <a:srgbClr val="1A1A1A"/>
              </a:buClr>
              <a:buSzPts val="1700"/>
              <a:buFont typeface="Calibri"/>
              <a:buChar char="•"/>
            </a:pPr>
            <a:r>
              <a:rPr b="0" i="0" lang="en" sz="1700" u="none" cap="none" strike="noStrike">
                <a:solidFill>
                  <a:srgbClr val="1A1A1A"/>
                </a:solidFill>
                <a:latin typeface="Calibri"/>
                <a:ea typeface="Calibri"/>
                <a:cs typeface="Calibri"/>
                <a:sym typeface="Calibri"/>
              </a:rPr>
              <a:t>Weights &amp; Biases for run-level tracking</a:t>
            </a:r>
            <a:endParaRPr b="0" i="0" sz="1700" u="none" cap="none" strike="noStrike">
              <a:solidFill>
                <a:schemeClr val="dk1"/>
              </a:solidFill>
              <a:latin typeface="Calibri"/>
              <a:ea typeface="Calibri"/>
              <a:cs typeface="Calibri"/>
              <a:sym typeface="Calibri"/>
            </a:endParaRPr>
          </a:p>
        </p:txBody>
      </p:sp>
      <p:sp>
        <p:nvSpPr>
          <p:cNvPr id="122" name="Google Shape;122;p19"/>
          <p:cNvSpPr/>
          <p:nvPr/>
        </p:nvSpPr>
        <p:spPr>
          <a:xfrm>
            <a:off x="4697730" y="1371600"/>
            <a:ext cx="4114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200"/>
              <a:buFont typeface="Calibri"/>
              <a:buNone/>
            </a:pPr>
            <a:r>
              <a:rPr b="1" i="0" lang="en" sz="1900" u="none" cap="none" strike="noStrike">
                <a:solidFill>
                  <a:srgbClr val="1A1A1A"/>
                </a:solidFill>
                <a:latin typeface="Calibri"/>
                <a:ea typeface="Calibri"/>
                <a:cs typeface="Calibri"/>
                <a:sym typeface="Calibri"/>
              </a:rPr>
              <a:t>Metrics captured</a:t>
            </a:r>
            <a:endParaRPr b="0" i="0" sz="1900" u="none" cap="none" strike="noStrike">
              <a:solidFill>
                <a:schemeClr val="dk1"/>
              </a:solidFill>
              <a:latin typeface="Calibri"/>
              <a:ea typeface="Calibri"/>
              <a:cs typeface="Calibri"/>
              <a:sym typeface="Calibri"/>
            </a:endParaRPr>
          </a:p>
        </p:txBody>
      </p:sp>
      <p:sp>
        <p:nvSpPr>
          <p:cNvPr id="123" name="Google Shape;123;p19"/>
          <p:cNvSpPr/>
          <p:nvPr/>
        </p:nvSpPr>
        <p:spPr>
          <a:xfrm>
            <a:off x="4697730" y="1714500"/>
            <a:ext cx="4114800" cy="2743200"/>
          </a:xfrm>
          <a:prstGeom prst="rect">
            <a:avLst/>
          </a:prstGeom>
          <a:noFill/>
          <a:ln>
            <a:noFill/>
          </a:ln>
        </p:spPr>
        <p:txBody>
          <a:bodyPr anchorCtr="0" anchor="t" bIns="34275" lIns="68575" spcFirstLastPara="1" rIns="68575" wrap="square" tIns="34275">
            <a:noAutofit/>
          </a:bodyPr>
          <a:lstStyle/>
          <a:p>
            <a:pPr indent="-285750" lvl="0" marL="254000" marR="0" rtl="0" algn="l">
              <a:spcBef>
                <a:spcPts val="0"/>
              </a:spcBef>
              <a:spcAft>
                <a:spcPts val="0"/>
              </a:spcAft>
              <a:buClr>
                <a:srgbClr val="1A1A1A"/>
              </a:buClr>
              <a:buSzPts val="1700"/>
              <a:buFont typeface="Calibri"/>
              <a:buChar char="•"/>
            </a:pPr>
            <a:r>
              <a:rPr b="0" i="0" lang="en" sz="1700" u="none" cap="none" strike="noStrike">
                <a:solidFill>
                  <a:srgbClr val="1A1A1A"/>
                </a:solidFill>
                <a:latin typeface="Calibri"/>
                <a:ea typeface="Calibri"/>
                <a:cs typeface="Calibri"/>
                <a:sym typeface="Calibri"/>
              </a:rPr>
              <a:t>Latency (p50, p95) and throughput</a:t>
            </a:r>
            <a:endParaRPr b="0" i="0" sz="1700" u="none" cap="none" strike="noStrike">
              <a:solidFill>
                <a:schemeClr val="dk1"/>
              </a:solidFill>
              <a:latin typeface="Calibri"/>
              <a:ea typeface="Calibri"/>
              <a:cs typeface="Calibri"/>
              <a:sym typeface="Calibri"/>
            </a:endParaRPr>
          </a:p>
          <a:p>
            <a:pPr indent="-285750" lvl="0" marL="254000" marR="0" rtl="0" algn="l">
              <a:spcBef>
                <a:spcPts val="600"/>
              </a:spcBef>
              <a:spcAft>
                <a:spcPts val="0"/>
              </a:spcAft>
              <a:buClr>
                <a:srgbClr val="1A1A1A"/>
              </a:buClr>
              <a:buSzPts val="1700"/>
              <a:buFont typeface="Calibri"/>
              <a:buChar char="•"/>
            </a:pPr>
            <a:r>
              <a:rPr b="0" i="0" lang="en" sz="1700" u="none" cap="none" strike="noStrike">
                <a:solidFill>
                  <a:srgbClr val="1A1A1A"/>
                </a:solidFill>
                <a:latin typeface="Calibri"/>
                <a:ea typeface="Calibri"/>
                <a:cs typeface="Calibri"/>
                <a:sym typeface="Calibri"/>
              </a:rPr>
              <a:t>GPU utilization &amp; SM occupancy</a:t>
            </a:r>
            <a:endParaRPr b="0" i="0" sz="1700" u="none" cap="none" strike="noStrike">
              <a:solidFill>
                <a:schemeClr val="dk1"/>
              </a:solidFill>
              <a:latin typeface="Calibri"/>
              <a:ea typeface="Calibri"/>
              <a:cs typeface="Calibri"/>
              <a:sym typeface="Calibri"/>
            </a:endParaRPr>
          </a:p>
          <a:p>
            <a:pPr indent="-285750" lvl="0" marL="254000" marR="0" rtl="0" algn="l">
              <a:spcBef>
                <a:spcPts val="600"/>
              </a:spcBef>
              <a:spcAft>
                <a:spcPts val="0"/>
              </a:spcAft>
              <a:buClr>
                <a:srgbClr val="1A1A1A"/>
              </a:buClr>
              <a:buSzPts val="1700"/>
              <a:buFont typeface="Calibri"/>
              <a:buChar char="•"/>
            </a:pPr>
            <a:r>
              <a:rPr b="0" i="0" lang="en" sz="1700" u="none" cap="none" strike="noStrike">
                <a:solidFill>
                  <a:srgbClr val="1A1A1A"/>
                </a:solidFill>
                <a:latin typeface="Calibri"/>
                <a:ea typeface="Calibri"/>
                <a:cs typeface="Calibri"/>
                <a:sym typeface="Calibri"/>
              </a:rPr>
              <a:t>Peak GPU memory and HBM bandwidth</a:t>
            </a:r>
            <a:endParaRPr b="0" i="0" sz="1700" u="none" cap="none" strike="noStrike">
              <a:solidFill>
                <a:schemeClr val="dk1"/>
              </a:solidFill>
              <a:latin typeface="Calibri"/>
              <a:ea typeface="Calibri"/>
              <a:cs typeface="Calibri"/>
              <a:sym typeface="Calibri"/>
            </a:endParaRPr>
          </a:p>
          <a:p>
            <a:pPr indent="-285750" lvl="0" marL="254000" marR="0" rtl="0" algn="l">
              <a:spcBef>
                <a:spcPts val="600"/>
              </a:spcBef>
              <a:spcAft>
                <a:spcPts val="0"/>
              </a:spcAft>
              <a:buClr>
                <a:srgbClr val="1A1A1A"/>
              </a:buClr>
              <a:buSzPts val="1700"/>
              <a:buFont typeface="Calibri"/>
              <a:buChar char="•"/>
            </a:pPr>
            <a:r>
              <a:rPr b="0" i="0" lang="en" sz="1700" u="none" cap="none" strike="noStrike">
                <a:solidFill>
                  <a:srgbClr val="1A1A1A"/>
                </a:solidFill>
                <a:latin typeface="Calibri"/>
                <a:ea typeface="Calibri"/>
                <a:cs typeface="Calibri"/>
                <a:sym typeface="Calibri"/>
              </a:rPr>
              <a:t>Time per stage: data → fwd → bwd → opt</a:t>
            </a:r>
            <a:endParaRPr b="0" i="0" sz="1700" u="none" cap="none" strike="noStrike">
              <a:solidFill>
                <a:schemeClr val="dk1"/>
              </a:solidFill>
              <a:latin typeface="Calibri"/>
              <a:ea typeface="Calibri"/>
              <a:cs typeface="Calibri"/>
              <a:sym typeface="Calibri"/>
            </a:endParaRPr>
          </a:p>
          <a:p>
            <a:pPr indent="-285750" lvl="0" marL="254000" marR="0" rtl="0" algn="l">
              <a:spcBef>
                <a:spcPts val="600"/>
              </a:spcBef>
              <a:spcAft>
                <a:spcPts val="0"/>
              </a:spcAft>
              <a:buClr>
                <a:srgbClr val="1A1A1A"/>
              </a:buClr>
              <a:buSzPts val="1700"/>
              <a:buFont typeface="Calibri"/>
              <a:buChar char="•"/>
            </a:pPr>
            <a:r>
              <a:rPr b="0" i="0" lang="en" sz="1700" u="none" cap="none" strike="noStrike">
                <a:solidFill>
                  <a:srgbClr val="1A1A1A"/>
                </a:solidFill>
                <a:latin typeface="Calibri"/>
                <a:ea typeface="Calibri"/>
                <a:cs typeface="Calibri"/>
                <a:sym typeface="Calibri"/>
              </a:rPr>
              <a:t>Task quality metric: accuracy and LLM-as-judge mean score</a:t>
            </a:r>
            <a:endParaRPr b="0" i="0" sz="1700" u="none" cap="none" strike="noStrike">
              <a:solidFill>
                <a:schemeClr val="dk1"/>
              </a:solidFill>
              <a:latin typeface="Calibri"/>
              <a:ea typeface="Calibri"/>
              <a:cs typeface="Calibri"/>
              <a:sym typeface="Calibri"/>
            </a:endParaRPr>
          </a:p>
        </p:txBody>
      </p:sp>
      <p:sp>
        <p:nvSpPr>
          <p:cNvPr id="124" name="Google Shape;124;p19"/>
          <p:cNvSpPr/>
          <p:nvPr/>
        </p:nvSpPr>
        <p:spPr>
          <a:xfrm>
            <a:off x="342900" y="4903470"/>
            <a:ext cx="41148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800"/>
              <a:buFont typeface="Calibri"/>
              <a:buNone/>
            </a:pPr>
            <a:r>
              <a:rPr b="0" i="1" lang="en" sz="800" u="none" cap="none" strike="noStrike">
                <a:solidFill>
                  <a:srgbClr val="6B6F76"/>
                </a:solidFill>
                <a:latin typeface="Calibri"/>
                <a:ea typeface="Calibri"/>
                <a:cs typeface="Calibri"/>
                <a:sym typeface="Calibri"/>
              </a:rPr>
              <a:t>HPML · Spring 2026</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9" name="Shape 129"/>
        <p:cNvGrpSpPr/>
        <p:nvPr/>
      </p:nvGrpSpPr>
      <p:grpSpPr>
        <a:xfrm>
          <a:off x="0" y="0"/>
          <a:ext cx="0" cy="0"/>
          <a:chOff x="0" y="0"/>
          <a:chExt cx="0" cy="0"/>
        </a:xfrm>
      </p:grpSpPr>
      <p:sp>
        <p:nvSpPr>
          <p:cNvPr id="130" name="Google Shape;130;p20"/>
          <p:cNvSpPr/>
          <p:nvPr/>
        </p:nvSpPr>
        <p:spPr>
          <a:xfrm>
            <a:off x="342900" y="377190"/>
            <a:ext cx="8455914"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400"/>
              <a:buFont typeface="Calibri"/>
              <a:buNone/>
            </a:pPr>
            <a:r>
              <a:rPr b="1" i="0" lang="en" sz="2400" u="none" cap="none" strike="noStrike">
                <a:solidFill>
                  <a:srgbClr val="1A1A1A"/>
                </a:solidFill>
                <a:latin typeface="Calibri"/>
                <a:ea typeface="Calibri"/>
                <a:cs typeface="Calibri"/>
                <a:sym typeface="Calibri"/>
              </a:rPr>
              <a:t>Results: Headline Numbers</a:t>
            </a:r>
            <a:endParaRPr b="0" i="0" sz="2400" u="none" cap="none" strike="noStrike">
              <a:solidFill>
                <a:schemeClr val="dk1"/>
              </a:solidFill>
              <a:latin typeface="Calibri"/>
              <a:ea typeface="Calibri"/>
              <a:cs typeface="Calibri"/>
              <a:sym typeface="Calibri"/>
            </a:endParaRPr>
          </a:p>
        </p:txBody>
      </p:sp>
      <p:cxnSp>
        <p:nvCxnSpPr>
          <p:cNvPr id="131" name="Google Shape;131;p20"/>
          <p:cNvCxnSpPr/>
          <p:nvPr/>
        </p:nvCxnSpPr>
        <p:spPr>
          <a:xfrm>
            <a:off x="342900" y="891540"/>
            <a:ext cx="8455914" cy="0"/>
          </a:xfrm>
          <a:prstGeom prst="straightConnector1">
            <a:avLst/>
          </a:prstGeom>
          <a:noFill/>
          <a:ln cap="flat" cmpd="sng" w="9525">
            <a:solidFill>
              <a:srgbClr val="D9D9D9"/>
            </a:solidFill>
            <a:prstDash val="solid"/>
            <a:round/>
            <a:headEnd len="sm" w="sm" type="none"/>
            <a:tailEnd len="sm" w="sm" type="none"/>
          </a:ln>
        </p:spPr>
      </p:cxnSp>
      <p:sp>
        <p:nvSpPr>
          <p:cNvPr id="132" name="Google Shape;132;p20"/>
          <p:cNvSpPr/>
          <p:nvPr/>
        </p:nvSpPr>
        <p:spPr>
          <a:xfrm>
            <a:off x="342900" y="994410"/>
            <a:ext cx="82296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800"/>
              <a:buFont typeface="Calibri"/>
              <a:buNone/>
            </a:pPr>
            <a:r>
              <a:t/>
            </a:r>
            <a:endParaRPr b="0" i="0" sz="800" u="none" cap="none" strike="noStrike">
              <a:solidFill>
                <a:schemeClr val="dk1"/>
              </a:solidFill>
              <a:latin typeface="Calibri"/>
              <a:ea typeface="Calibri"/>
              <a:cs typeface="Calibri"/>
              <a:sym typeface="Calibri"/>
            </a:endParaRPr>
          </a:p>
        </p:txBody>
      </p:sp>
      <p:sp>
        <p:nvSpPr>
          <p:cNvPr id="133" name="Google Shape;133;p20"/>
          <p:cNvSpPr/>
          <p:nvPr/>
        </p:nvSpPr>
        <p:spPr>
          <a:xfrm>
            <a:off x="342900" y="1714500"/>
            <a:ext cx="2688336" cy="10972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5B2A"/>
              </a:buClr>
              <a:buSzPts val="4800"/>
              <a:buFont typeface="Calibri"/>
              <a:buNone/>
            </a:pPr>
            <a:r>
              <a:rPr b="1" i="0" lang="en" sz="4800" u="none" cap="none" strike="noStrike">
                <a:solidFill>
                  <a:srgbClr val="C75B2A"/>
                </a:solidFill>
                <a:latin typeface="Calibri"/>
                <a:ea typeface="Calibri"/>
                <a:cs typeface="Calibri"/>
                <a:sym typeface="Calibri"/>
              </a:rPr>
              <a:t>2.05×</a:t>
            </a:r>
            <a:endParaRPr b="0" i="0" sz="4800" u="none" cap="none" strike="noStrike">
              <a:solidFill>
                <a:schemeClr val="dk1"/>
              </a:solidFill>
              <a:latin typeface="Calibri"/>
              <a:ea typeface="Calibri"/>
              <a:cs typeface="Calibri"/>
              <a:sym typeface="Calibri"/>
            </a:endParaRPr>
          </a:p>
        </p:txBody>
      </p:sp>
      <p:sp>
        <p:nvSpPr>
          <p:cNvPr id="134" name="Google Shape;134;p20"/>
          <p:cNvSpPr/>
          <p:nvPr/>
        </p:nvSpPr>
        <p:spPr>
          <a:xfrm>
            <a:off x="342900" y="2880360"/>
            <a:ext cx="2688336"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200"/>
              <a:buFont typeface="Calibri"/>
              <a:buNone/>
            </a:pPr>
            <a:r>
              <a:rPr b="1" i="0" lang="en" sz="1600" u="none" cap="none" strike="noStrike">
                <a:solidFill>
                  <a:srgbClr val="1A1A1A"/>
                </a:solidFill>
                <a:latin typeface="Calibri"/>
                <a:ea typeface="Calibri"/>
                <a:cs typeface="Calibri"/>
                <a:sym typeface="Calibri"/>
              </a:rPr>
              <a:t>E2E speedup (Qwen L1d)</a:t>
            </a:r>
            <a:endParaRPr b="0" i="0" sz="1600" u="none" cap="none" strike="noStrike">
              <a:solidFill>
                <a:schemeClr val="dk1"/>
              </a:solidFill>
              <a:latin typeface="Calibri"/>
              <a:ea typeface="Calibri"/>
              <a:cs typeface="Calibri"/>
              <a:sym typeface="Calibri"/>
            </a:endParaRPr>
          </a:p>
        </p:txBody>
      </p:sp>
      <p:sp>
        <p:nvSpPr>
          <p:cNvPr id="135" name="Google Shape;135;p20"/>
          <p:cNvSpPr/>
          <p:nvPr/>
        </p:nvSpPr>
        <p:spPr>
          <a:xfrm>
            <a:off x="342900" y="3188970"/>
            <a:ext cx="2688336"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6F76"/>
              </a:buClr>
              <a:buSzPts val="900"/>
              <a:buFont typeface="Calibri"/>
              <a:buNone/>
            </a:pPr>
            <a:r>
              <a:rPr b="0" i="1" lang="en" sz="1300" u="none" cap="none" strike="noStrike">
                <a:solidFill>
                  <a:srgbClr val="6B6F76"/>
                </a:solidFill>
                <a:latin typeface="Calibri"/>
                <a:ea typeface="Calibri"/>
                <a:cs typeface="Calibri"/>
                <a:sym typeface="Calibri"/>
              </a:rPr>
              <a:t>8,211 ms → 3,995 ms mean E2E</a:t>
            </a:r>
            <a:endParaRPr b="0" i="0" sz="1300" u="none" cap="none" strike="noStrike">
              <a:solidFill>
                <a:schemeClr val="dk1"/>
              </a:solidFill>
              <a:latin typeface="Calibri"/>
              <a:ea typeface="Calibri"/>
              <a:cs typeface="Calibri"/>
              <a:sym typeface="Calibri"/>
            </a:endParaRPr>
          </a:p>
        </p:txBody>
      </p:sp>
      <p:sp>
        <p:nvSpPr>
          <p:cNvPr id="136" name="Google Shape;136;p20"/>
          <p:cNvSpPr/>
          <p:nvPr/>
        </p:nvSpPr>
        <p:spPr>
          <a:xfrm>
            <a:off x="3236976" y="1714500"/>
            <a:ext cx="2688336" cy="10972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5B2A"/>
              </a:buClr>
              <a:buSzPts val="4800"/>
              <a:buFont typeface="Calibri"/>
              <a:buNone/>
            </a:pPr>
            <a:r>
              <a:rPr b="1" i="0" lang="en" sz="4800" u="none" cap="none" strike="noStrike">
                <a:solidFill>
                  <a:srgbClr val="C75B2A"/>
                </a:solidFill>
                <a:latin typeface="Calibri"/>
                <a:ea typeface="Calibri"/>
                <a:cs typeface="Calibri"/>
                <a:sym typeface="Calibri"/>
              </a:rPr>
              <a:t>87.5%</a:t>
            </a:r>
            <a:endParaRPr b="0" i="0" sz="4800" u="none" cap="none" strike="noStrike">
              <a:solidFill>
                <a:schemeClr val="dk1"/>
              </a:solidFill>
              <a:latin typeface="Calibri"/>
              <a:ea typeface="Calibri"/>
              <a:cs typeface="Calibri"/>
              <a:sym typeface="Calibri"/>
            </a:endParaRPr>
          </a:p>
        </p:txBody>
      </p:sp>
      <p:sp>
        <p:nvSpPr>
          <p:cNvPr id="137" name="Google Shape;137;p20"/>
          <p:cNvSpPr/>
          <p:nvPr/>
        </p:nvSpPr>
        <p:spPr>
          <a:xfrm>
            <a:off x="3236976" y="2880360"/>
            <a:ext cx="2688336"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200"/>
              <a:buFont typeface="Calibri"/>
              <a:buNone/>
            </a:pPr>
            <a:r>
              <a:rPr b="1" i="0" lang="en" sz="1600" u="none" cap="none" strike="noStrike">
                <a:solidFill>
                  <a:srgbClr val="1A1A1A"/>
                </a:solidFill>
                <a:latin typeface="Calibri"/>
                <a:ea typeface="Calibri"/>
                <a:cs typeface="Calibri"/>
                <a:sym typeface="Calibri"/>
              </a:rPr>
              <a:t>accuracy with domain AWQ</a:t>
            </a:r>
            <a:endParaRPr b="0" i="0" sz="1600" u="none" cap="none" strike="noStrike">
              <a:solidFill>
                <a:schemeClr val="dk1"/>
              </a:solidFill>
              <a:latin typeface="Calibri"/>
              <a:ea typeface="Calibri"/>
              <a:cs typeface="Calibri"/>
              <a:sym typeface="Calibri"/>
            </a:endParaRPr>
          </a:p>
        </p:txBody>
      </p:sp>
      <p:sp>
        <p:nvSpPr>
          <p:cNvPr id="138" name="Google Shape;138;p20"/>
          <p:cNvSpPr/>
          <p:nvPr/>
        </p:nvSpPr>
        <p:spPr>
          <a:xfrm>
            <a:off x="3236976" y="3188970"/>
            <a:ext cx="2688336"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6F76"/>
              </a:buClr>
              <a:buSzPts val="900"/>
              <a:buFont typeface="Calibri"/>
              <a:buNone/>
            </a:pPr>
            <a:r>
              <a:rPr b="0" i="1" lang="en" sz="1300" u="none" cap="none" strike="noStrike">
                <a:solidFill>
                  <a:srgbClr val="6B6F76"/>
                </a:solidFill>
                <a:latin typeface="Calibri"/>
                <a:ea typeface="Calibri"/>
                <a:cs typeface="Calibri"/>
                <a:sym typeface="Calibri"/>
              </a:rPr>
              <a:t>15.54 GiB → 5.9 </a:t>
            </a:r>
            <a:r>
              <a:rPr i="1" lang="en" sz="1300">
                <a:solidFill>
                  <a:srgbClr val="6B6F76"/>
                </a:solidFill>
                <a:latin typeface="Calibri"/>
                <a:ea typeface="Calibri"/>
                <a:cs typeface="Calibri"/>
                <a:sym typeface="Calibri"/>
              </a:rPr>
              <a:t>VRAM</a:t>
            </a:r>
            <a:r>
              <a:rPr b="0" i="1" lang="en" sz="1300" u="none" cap="none" strike="noStrike">
                <a:solidFill>
                  <a:srgbClr val="6B6F76"/>
                </a:solidFill>
                <a:latin typeface="Calibri"/>
                <a:ea typeface="Calibri"/>
                <a:cs typeface="Calibri"/>
                <a:sym typeface="Calibri"/>
              </a:rPr>
              <a:t> (2.6× reduction)</a:t>
            </a:r>
            <a:endParaRPr b="0" i="0" sz="1300" u="none" cap="none" strike="noStrike">
              <a:solidFill>
                <a:schemeClr val="dk1"/>
              </a:solidFill>
              <a:latin typeface="Calibri"/>
              <a:ea typeface="Calibri"/>
              <a:cs typeface="Calibri"/>
              <a:sym typeface="Calibri"/>
            </a:endParaRPr>
          </a:p>
        </p:txBody>
      </p:sp>
      <p:sp>
        <p:nvSpPr>
          <p:cNvPr id="139" name="Google Shape;139;p20"/>
          <p:cNvSpPr/>
          <p:nvPr/>
        </p:nvSpPr>
        <p:spPr>
          <a:xfrm>
            <a:off x="6131052" y="1714500"/>
            <a:ext cx="2688336" cy="10972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5B2A"/>
              </a:buClr>
              <a:buSzPts val="4800"/>
              <a:buFont typeface="Calibri"/>
              <a:buNone/>
            </a:pPr>
            <a:r>
              <a:rPr b="1" lang="en" sz="4800">
                <a:solidFill>
                  <a:srgbClr val="C75B2A"/>
                </a:solidFill>
                <a:latin typeface="Calibri"/>
                <a:ea typeface="Calibri"/>
                <a:cs typeface="Calibri"/>
                <a:sym typeface="Calibri"/>
              </a:rPr>
              <a:t>2.99</a:t>
            </a:r>
            <a:r>
              <a:rPr b="1" i="0" lang="en" sz="4800" u="none" cap="none" strike="noStrike">
                <a:solidFill>
                  <a:srgbClr val="C75B2A"/>
                </a:solidFill>
                <a:latin typeface="Calibri"/>
                <a:ea typeface="Calibri"/>
                <a:cs typeface="Calibri"/>
                <a:sym typeface="Calibri"/>
              </a:rPr>
              <a:t>×</a:t>
            </a:r>
            <a:endParaRPr b="0" i="0" sz="4800" u="none" cap="none" strike="noStrike">
              <a:solidFill>
                <a:schemeClr val="dk1"/>
              </a:solidFill>
              <a:latin typeface="Calibri"/>
              <a:ea typeface="Calibri"/>
              <a:cs typeface="Calibri"/>
              <a:sym typeface="Calibri"/>
            </a:endParaRPr>
          </a:p>
        </p:txBody>
      </p:sp>
      <p:sp>
        <p:nvSpPr>
          <p:cNvPr id="140" name="Google Shape;140;p20"/>
          <p:cNvSpPr/>
          <p:nvPr/>
        </p:nvSpPr>
        <p:spPr>
          <a:xfrm>
            <a:off x="6131052" y="2880360"/>
            <a:ext cx="2688336"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200"/>
              <a:buFont typeface="Calibri"/>
              <a:buNone/>
            </a:pPr>
            <a:r>
              <a:rPr b="1" lang="en" sz="1600">
                <a:solidFill>
                  <a:srgbClr val="1A1A1A"/>
                </a:solidFill>
                <a:latin typeface="Calibri"/>
                <a:ea typeface="Calibri"/>
                <a:cs typeface="Calibri"/>
                <a:sym typeface="Calibri"/>
              </a:rPr>
              <a:t>Mean</a:t>
            </a:r>
            <a:r>
              <a:rPr b="1" i="0" lang="en" sz="1600" u="none" cap="none" strike="noStrike">
                <a:solidFill>
                  <a:srgbClr val="1A1A1A"/>
                </a:solidFill>
                <a:latin typeface="Calibri"/>
                <a:ea typeface="Calibri"/>
                <a:cs typeface="Calibri"/>
                <a:sym typeface="Calibri"/>
              </a:rPr>
              <a:t> speedup (L1g p50)</a:t>
            </a:r>
            <a:endParaRPr b="0" i="0" sz="1600" u="none" cap="none" strike="noStrike">
              <a:solidFill>
                <a:schemeClr val="dk1"/>
              </a:solidFill>
              <a:latin typeface="Calibri"/>
              <a:ea typeface="Calibri"/>
              <a:cs typeface="Calibri"/>
              <a:sym typeface="Calibri"/>
            </a:endParaRPr>
          </a:p>
        </p:txBody>
      </p:sp>
      <p:sp>
        <p:nvSpPr>
          <p:cNvPr id="141" name="Google Shape;141;p20"/>
          <p:cNvSpPr/>
          <p:nvPr/>
        </p:nvSpPr>
        <p:spPr>
          <a:xfrm>
            <a:off x="6131052" y="3188970"/>
            <a:ext cx="2688336"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6F76"/>
              </a:buClr>
              <a:buSzPts val="900"/>
              <a:buFont typeface="Calibri"/>
              <a:buNone/>
            </a:pPr>
            <a:r>
              <a:rPr b="0" i="1" lang="en" sz="1300" u="none" cap="none" strike="noStrike">
                <a:solidFill>
                  <a:srgbClr val="6B6F76"/>
                </a:solidFill>
                <a:latin typeface="Calibri"/>
                <a:ea typeface="Calibri"/>
                <a:cs typeface="Calibri"/>
                <a:sym typeface="Calibri"/>
              </a:rPr>
              <a:t>Llama: 9,</a:t>
            </a:r>
            <a:r>
              <a:rPr i="1" lang="en" sz="1300">
                <a:solidFill>
                  <a:srgbClr val="6B6F76"/>
                </a:solidFill>
                <a:latin typeface="Calibri"/>
                <a:ea typeface="Calibri"/>
                <a:cs typeface="Calibri"/>
                <a:sym typeface="Calibri"/>
              </a:rPr>
              <a:t>384</a:t>
            </a:r>
            <a:r>
              <a:rPr b="0" i="1" lang="en" sz="1300" u="none" cap="none" strike="noStrike">
                <a:solidFill>
                  <a:srgbClr val="6B6F76"/>
                </a:solidFill>
                <a:latin typeface="Calibri"/>
                <a:ea typeface="Calibri"/>
                <a:cs typeface="Calibri"/>
                <a:sym typeface="Calibri"/>
              </a:rPr>
              <a:t> ms down to 3,</a:t>
            </a:r>
            <a:r>
              <a:rPr i="1" lang="en" sz="1300">
                <a:solidFill>
                  <a:srgbClr val="6B6F76"/>
                </a:solidFill>
                <a:latin typeface="Calibri"/>
                <a:ea typeface="Calibri"/>
                <a:cs typeface="Calibri"/>
                <a:sym typeface="Calibri"/>
              </a:rPr>
              <a:t>136</a:t>
            </a:r>
            <a:r>
              <a:rPr b="0" i="1" lang="en" sz="1300" u="none" cap="none" strike="noStrike">
                <a:solidFill>
                  <a:srgbClr val="6B6F76"/>
                </a:solidFill>
                <a:latin typeface="Calibri"/>
                <a:ea typeface="Calibri"/>
                <a:cs typeface="Calibri"/>
                <a:sym typeface="Calibri"/>
              </a:rPr>
              <a:t> ms mean E2E</a:t>
            </a:r>
            <a:endParaRPr b="0" i="0" sz="1300" u="none" cap="none" strike="noStrike">
              <a:solidFill>
                <a:schemeClr val="dk1"/>
              </a:solidFill>
              <a:latin typeface="Calibri"/>
              <a:ea typeface="Calibri"/>
              <a:cs typeface="Calibri"/>
              <a:sym typeface="Calibri"/>
            </a:endParaRPr>
          </a:p>
        </p:txBody>
      </p:sp>
      <p:sp>
        <p:nvSpPr>
          <p:cNvPr id="142" name="Google Shape;142;p20"/>
          <p:cNvSpPr/>
          <p:nvPr/>
        </p:nvSpPr>
        <p:spPr>
          <a:xfrm>
            <a:off x="342900" y="4389120"/>
            <a:ext cx="8455914"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6F76"/>
              </a:buClr>
              <a:buSzPts val="800"/>
              <a:buFont typeface="Calibri"/>
              <a:buNone/>
            </a:pPr>
            <a:r>
              <a:rPr b="0" i="1" lang="en" sz="1200" u="none" cap="none" strike="noStrike">
                <a:solidFill>
                  <a:srgbClr val="6B6F76"/>
                </a:solidFill>
                <a:latin typeface="Calibri"/>
                <a:ea typeface="Calibri"/>
                <a:cs typeface="Calibri"/>
                <a:sym typeface="Calibri"/>
              </a:rPr>
              <a:t>All measurements on GCP g2-standard-8 with NVIDIA L4 (24 GB VRAM). </a:t>
            </a:r>
            <a:r>
              <a:rPr i="1" lang="en" sz="1200">
                <a:solidFill>
                  <a:srgbClr val="6B6F76"/>
                </a:solidFill>
                <a:latin typeface="Calibri"/>
                <a:ea typeface="Calibri"/>
                <a:cs typeface="Calibri"/>
                <a:sym typeface="Calibri"/>
              </a:rPr>
              <a:t>22</a:t>
            </a:r>
            <a:r>
              <a:rPr b="0" i="1" lang="en" sz="1200" u="none" cap="none" strike="noStrike">
                <a:solidFill>
                  <a:srgbClr val="6B6F76"/>
                </a:solidFill>
                <a:latin typeface="Calibri"/>
                <a:ea typeface="Calibri"/>
                <a:cs typeface="Calibri"/>
                <a:sym typeface="Calibri"/>
              </a:rPr>
              <a:t> scenarios per variant, 10 variants total.</a:t>
            </a:r>
            <a:endParaRPr b="0" i="0" sz="1200" u="none" cap="none" strike="noStrike">
              <a:solidFill>
                <a:schemeClr val="dk1"/>
              </a:solidFill>
              <a:latin typeface="Calibri"/>
              <a:ea typeface="Calibri"/>
              <a:cs typeface="Calibri"/>
              <a:sym typeface="Calibri"/>
            </a:endParaRPr>
          </a:p>
        </p:txBody>
      </p:sp>
      <p:sp>
        <p:nvSpPr>
          <p:cNvPr id="143" name="Google Shape;143;p20"/>
          <p:cNvSpPr/>
          <p:nvPr/>
        </p:nvSpPr>
        <p:spPr>
          <a:xfrm>
            <a:off x="342900" y="4903470"/>
            <a:ext cx="41148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800"/>
              <a:buFont typeface="Calibri"/>
              <a:buNone/>
            </a:pPr>
            <a:r>
              <a:rPr b="0" i="1" lang="en" sz="800" u="none" cap="none" strike="noStrike">
                <a:solidFill>
                  <a:srgbClr val="6B6F76"/>
                </a:solidFill>
                <a:latin typeface="Calibri"/>
                <a:ea typeface="Calibri"/>
                <a:cs typeface="Calibri"/>
                <a:sym typeface="Calibri"/>
              </a:rPr>
              <a:t>HPML · Spring 2026</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8" name="Shape 148"/>
        <p:cNvGrpSpPr/>
        <p:nvPr/>
      </p:nvGrpSpPr>
      <p:grpSpPr>
        <a:xfrm>
          <a:off x="0" y="0"/>
          <a:ext cx="0" cy="0"/>
          <a:chOff x="0" y="0"/>
          <a:chExt cx="0" cy="0"/>
        </a:xfrm>
      </p:grpSpPr>
      <p:sp>
        <p:nvSpPr>
          <p:cNvPr id="149" name="Google Shape;149;p21"/>
          <p:cNvSpPr/>
          <p:nvPr/>
        </p:nvSpPr>
        <p:spPr>
          <a:xfrm>
            <a:off x="342900" y="377190"/>
            <a:ext cx="8455914"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400"/>
              <a:buFont typeface="Calibri"/>
              <a:buNone/>
            </a:pPr>
            <a:r>
              <a:rPr b="1" i="0" lang="en" sz="2400" u="none" cap="none" strike="noStrike">
                <a:solidFill>
                  <a:srgbClr val="1A1A1A"/>
                </a:solidFill>
                <a:latin typeface="Calibri"/>
                <a:ea typeface="Calibri"/>
                <a:cs typeface="Calibri"/>
                <a:sym typeface="Calibri"/>
              </a:rPr>
              <a:t>Results: Before and After</a:t>
            </a:r>
            <a:endParaRPr b="0" i="0" sz="2400" u="none" cap="none" strike="noStrike">
              <a:solidFill>
                <a:schemeClr val="dk1"/>
              </a:solidFill>
              <a:latin typeface="Calibri"/>
              <a:ea typeface="Calibri"/>
              <a:cs typeface="Calibri"/>
              <a:sym typeface="Calibri"/>
            </a:endParaRPr>
          </a:p>
        </p:txBody>
      </p:sp>
      <p:cxnSp>
        <p:nvCxnSpPr>
          <p:cNvPr id="150" name="Google Shape;150;p21"/>
          <p:cNvCxnSpPr/>
          <p:nvPr/>
        </p:nvCxnSpPr>
        <p:spPr>
          <a:xfrm>
            <a:off x="342900" y="891540"/>
            <a:ext cx="8455914" cy="0"/>
          </a:xfrm>
          <a:prstGeom prst="straightConnector1">
            <a:avLst/>
          </a:prstGeom>
          <a:noFill/>
          <a:ln cap="flat" cmpd="sng" w="9525">
            <a:solidFill>
              <a:srgbClr val="D9D9D9"/>
            </a:solidFill>
            <a:prstDash val="solid"/>
            <a:round/>
            <a:headEnd len="sm" w="sm" type="none"/>
            <a:tailEnd len="sm" w="sm" type="none"/>
          </a:ln>
        </p:spPr>
      </p:cxnSp>
      <p:sp>
        <p:nvSpPr>
          <p:cNvPr id="151" name="Google Shape;151;p21"/>
          <p:cNvSpPr/>
          <p:nvPr/>
        </p:nvSpPr>
        <p:spPr>
          <a:xfrm>
            <a:off x="342900" y="994410"/>
            <a:ext cx="82296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800"/>
              <a:buFont typeface="Calibri"/>
              <a:buNone/>
            </a:pPr>
            <a:r>
              <a:t/>
            </a:r>
            <a:endParaRPr b="0" i="0" sz="800" u="none" cap="none" strike="noStrike">
              <a:solidFill>
                <a:schemeClr val="dk1"/>
              </a:solidFill>
              <a:latin typeface="Calibri"/>
              <a:ea typeface="Calibri"/>
              <a:cs typeface="Calibri"/>
              <a:sym typeface="Calibri"/>
            </a:endParaRPr>
          </a:p>
        </p:txBody>
      </p:sp>
      <p:sp>
        <p:nvSpPr>
          <p:cNvPr id="152" name="Google Shape;152;p21"/>
          <p:cNvSpPr/>
          <p:nvPr/>
        </p:nvSpPr>
        <p:spPr>
          <a:xfrm>
            <a:off x="5897880" y="1371600"/>
            <a:ext cx="29489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200"/>
              <a:buFont typeface="Calibri"/>
              <a:buNone/>
            </a:pPr>
            <a:r>
              <a:rPr b="1" i="0" lang="en" sz="1200" u="none" cap="none" strike="noStrike">
                <a:solidFill>
                  <a:srgbClr val="1A1A1A"/>
                </a:solidFill>
                <a:latin typeface="Calibri"/>
                <a:ea typeface="Calibri"/>
                <a:cs typeface="Calibri"/>
                <a:sym typeface="Calibri"/>
              </a:rPr>
              <a:t>Takeaway</a:t>
            </a:r>
            <a:endParaRPr b="0" i="0" sz="1200" u="none" cap="none" strike="noStrike">
              <a:solidFill>
                <a:schemeClr val="dk1"/>
              </a:solidFill>
              <a:latin typeface="Calibri"/>
              <a:ea typeface="Calibri"/>
              <a:cs typeface="Calibri"/>
              <a:sym typeface="Calibri"/>
            </a:endParaRPr>
          </a:p>
        </p:txBody>
      </p:sp>
      <p:sp>
        <p:nvSpPr>
          <p:cNvPr id="153" name="Google Shape;153;p21"/>
          <p:cNvSpPr/>
          <p:nvPr/>
        </p:nvSpPr>
        <p:spPr>
          <a:xfrm>
            <a:off x="5897880" y="1714500"/>
            <a:ext cx="2948940" cy="2743200"/>
          </a:xfrm>
          <a:prstGeom prst="rect">
            <a:avLst/>
          </a:prstGeom>
          <a:noFill/>
          <a:ln>
            <a:noFill/>
          </a:ln>
        </p:spPr>
        <p:txBody>
          <a:bodyPr anchorCtr="0" anchor="t" bIns="34275" lIns="68575" spcFirstLastPara="1" rIns="68575" wrap="square" tIns="34275">
            <a:noAutofit/>
          </a:bodyPr>
          <a:lstStyle/>
          <a:p>
            <a:pPr indent="-279400" lvl="0" marL="254000" marR="0" rtl="0" algn="l">
              <a:spcBef>
                <a:spcPts val="0"/>
              </a:spcBef>
              <a:spcAft>
                <a:spcPts val="0"/>
              </a:spcAft>
              <a:buClr>
                <a:srgbClr val="1A1A1A"/>
              </a:buClr>
              <a:buSzPts val="1400"/>
              <a:buFont typeface="Calibri"/>
              <a:buChar char="•"/>
            </a:pPr>
            <a:r>
              <a:rPr b="0" i="0" lang="en" u="none" cap="none" strike="noStrike">
                <a:solidFill>
                  <a:srgbClr val="1A1A1A"/>
                </a:solidFill>
                <a:latin typeface="Calibri"/>
                <a:ea typeface="Calibri"/>
                <a:cs typeface="Calibri"/>
                <a:sym typeface="Calibri"/>
              </a:rPr>
              <a:t>Domain-calibrated AWQ (L1d) on Qwen nearly halved latency to 4,712 ms mean while accuracy improved from 68.8% to 87.5%.</a:t>
            </a:r>
            <a:endParaRPr b="0" i="0" u="none" cap="none" strike="noStrike">
              <a:solidFill>
                <a:schemeClr val="dk1"/>
              </a:solidFill>
              <a:latin typeface="Calibri"/>
              <a:ea typeface="Calibri"/>
              <a:cs typeface="Calibri"/>
              <a:sym typeface="Calibri"/>
            </a:endParaRPr>
          </a:p>
          <a:p>
            <a:pPr indent="-279400" lvl="0" marL="254000" marR="0" rtl="0" algn="l">
              <a:spcBef>
                <a:spcPts val="600"/>
              </a:spcBef>
              <a:spcAft>
                <a:spcPts val="0"/>
              </a:spcAft>
              <a:buClr>
                <a:srgbClr val="1A1A1A"/>
              </a:buClr>
              <a:buSzPts val="1400"/>
              <a:buFont typeface="Calibri"/>
              <a:buChar char="•"/>
            </a:pPr>
            <a:r>
              <a:rPr b="0" i="0" lang="en" u="none" cap="none" strike="noStrike">
                <a:solidFill>
                  <a:srgbClr val="1A1A1A"/>
                </a:solidFill>
                <a:latin typeface="Calibri"/>
                <a:ea typeface="Calibri"/>
                <a:cs typeface="Calibri"/>
                <a:sym typeface="Calibri"/>
              </a:rPr>
              <a:t>L1d (domain AWQ) contributed most: 2.05× speedup</a:t>
            </a:r>
            <a:endParaRPr b="0" i="0" sz="1500" u="none" cap="none" strike="noStrike">
              <a:solidFill>
                <a:schemeClr val="dk1"/>
              </a:solidFill>
              <a:latin typeface="Calibri"/>
              <a:ea typeface="Calibri"/>
              <a:cs typeface="Calibri"/>
              <a:sym typeface="Calibri"/>
            </a:endParaRPr>
          </a:p>
          <a:p>
            <a:pPr indent="-279400" lvl="0" marL="254000" marR="0" rtl="0" algn="l">
              <a:spcBef>
                <a:spcPts val="600"/>
              </a:spcBef>
              <a:spcAft>
                <a:spcPts val="0"/>
              </a:spcAft>
              <a:buClr>
                <a:srgbClr val="1A1A1A"/>
              </a:buClr>
              <a:buSzPts val="1400"/>
              <a:buFont typeface="Calibri"/>
              <a:buChar char="•"/>
            </a:pPr>
            <a:r>
              <a:rPr b="0" i="0" lang="en" u="none" cap="none" strike="noStrike">
                <a:solidFill>
                  <a:srgbClr val="1A1A1A"/>
                </a:solidFill>
                <a:latin typeface="Calibri"/>
                <a:ea typeface="Calibri"/>
                <a:cs typeface="Calibri"/>
                <a:sym typeface="Calibri"/>
              </a:rPr>
              <a:t>The L2 full bundle hit 1,</a:t>
            </a:r>
            <a:r>
              <a:rPr lang="en">
                <a:solidFill>
                  <a:srgbClr val="1A1A1A"/>
                </a:solidFill>
                <a:latin typeface="Calibri"/>
                <a:ea typeface="Calibri"/>
                <a:cs typeface="Calibri"/>
                <a:sym typeface="Calibri"/>
              </a:rPr>
              <a:t>157</a:t>
            </a:r>
            <a:r>
              <a:rPr b="0" i="0" lang="en" u="none" cap="none" strike="noStrike">
                <a:solidFill>
                  <a:srgbClr val="1A1A1A"/>
                </a:solidFill>
                <a:latin typeface="Calibri"/>
                <a:ea typeface="Calibri"/>
                <a:cs typeface="Calibri"/>
                <a:sym typeface="Calibri"/>
              </a:rPr>
              <a:t> ms p50 (fastest of all variants) but accuracy collapsed to 0% on Qwen, showing that aggressive serving tuning can break generation quality.</a:t>
            </a:r>
            <a:endParaRPr b="0" i="0" u="none" cap="none" strike="noStrike">
              <a:solidFill>
                <a:schemeClr val="dk1"/>
              </a:solidFill>
              <a:latin typeface="Calibri"/>
              <a:ea typeface="Calibri"/>
              <a:cs typeface="Calibri"/>
              <a:sym typeface="Calibri"/>
            </a:endParaRPr>
          </a:p>
        </p:txBody>
      </p:sp>
      <p:sp>
        <p:nvSpPr>
          <p:cNvPr id="154" name="Google Shape;154;p21"/>
          <p:cNvSpPr/>
          <p:nvPr/>
        </p:nvSpPr>
        <p:spPr>
          <a:xfrm>
            <a:off x="342900" y="4903470"/>
            <a:ext cx="41148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800"/>
              <a:buFont typeface="Calibri"/>
              <a:buNone/>
            </a:pPr>
            <a:r>
              <a:rPr b="0" i="1" lang="en" sz="800" u="none" cap="none" strike="noStrike">
                <a:solidFill>
                  <a:srgbClr val="6B6F76"/>
                </a:solidFill>
                <a:latin typeface="Calibri"/>
                <a:ea typeface="Calibri"/>
                <a:cs typeface="Calibri"/>
                <a:sym typeface="Calibri"/>
              </a:rPr>
              <a:t>HPML · Spring 2026</a:t>
            </a:r>
            <a:endParaRPr b="0" i="0" sz="800" u="none" cap="none" strike="noStrike">
              <a:solidFill>
                <a:schemeClr val="dk1"/>
              </a:solidFill>
              <a:latin typeface="Calibri"/>
              <a:ea typeface="Calibri"/>
              <a:cs typeface="Calibri"/>
              <a:sym typeface="Calibri"/>
            </a:endParaRPr>
          </a:p>
        </p:txBody>
      </p:sp>
      <p:pic>
        <p:nvPicPr>
          <p:cNvPr id="155" name="Google Shape;155;p21"/>
          <p:cNvPicPr preferRelativeResize="0"/>
          <p:nvPr/>
        </p:nvPicPr>
        <p:blipFill rotWithShape="1">
          <a:blip r:embed="rId3">
            <a:alphaModFix/>
          </a:blip>
          <a:srcRect b="7848" l="728" r="876" t="21063"/>
          <a:stretch/>
        </p:blipFill>
        <p:spPr>
          <a:xfrm>
            <a:off x="342900" y="1405613"/>
            <a:ext cx="5349250" cy="2743200"/>
          </a:xfrm>
          <a:prstGeom prst="rect">
            <a:avLst/>
          </a:prstGeom>
          <a:solidFill>
            <a:srgbClr val="F5F5F5"/>
          </a:solidFill>
          <a:ln cap="flat" cmpd="sng" w="9525">
            <a:solidFill>
              <a:srgbClr val="D9D9D9"/>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0" name="Shape 160"/>
        <p:cNvGrpSpPr/>
        <p:nvPr/>
      </p:nvGrpSpPr>
      <p:grpSpPr>
        <a:xfrm>
          <a:off x="0" y="0"/>
          <a:ext cx="0" cy="0"/>
          <a:chOff x="0" y="0"/>
          <a:chExt cx="0" cy="0"/>
        </a:xfrm>
      </p:grpSpPr>
      <p:sp>
        <p:nvSpPr>
          <p:cNvPr id="161" name="Google Shape;161;p22"/>
          <p:cNvSpPr/>
          <p:nvPr/>
        </p:nvSpPr>
        <p:spPr>
          <a:xfrm>
            <a:off x="342900" y="377190"/>
            <a:ext cx="8455914"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400"/>
              <a:buFont typeface="Calibri"/>
              <a:buNone/>
            </a:pPr>
            <a:r>
              <a:rPr b="1" i="0" lang="en" sz="2400" u="none" cap="none" strike="noStrike">
                <a:solidFill>
                  <a:srgbClr val="1A1A1A"/>
                </a:solidFill>
                <a:latin typeface="Calibri"/>
                <a:ea typeface="Calibri"/>
                <a:cs typeface="Calibri"/>
                <a:sym typeface="Calibri"/>
              </a:rPr>
              <a:t>Profiler Evidence</a:t>
            </a:r>
            <a:endParaRPr b="0" i="0" sz="2400" u="none" cap="none" strike="noStrike">
              <a:solidFill>
                <a:schemeClr val="dk1"/>
              </a:solidFill>
              <a:latin typeface="Calibri"/>
              <a:ea typeface="Calibri"/>
              <a:cs typeface="Calibri"/>
              <a:sym typeface="Calibri"/>
            </a:endParaRPr>
          </a:p>
        </p:txBody>
      </p:sp>
      <p:cxnSp>
        <p:nvCxnSpPr>
          <p:cNvPr id="162" name="Google Shape;162;p22"/>
          <p:cNvCxnSpPr/>
          <p:nvPr/>
        </p:nvCxnSpPr>
        <p:spPr>
          <a:xfrm>
            <a:off x="342900" y="891540"/>
            <a:ext cx="8455914" cy="0"/>
          </a:xfrm>
          <a:prstGeom prst="straightConnector1">
            <a:avLst/>
          </a:prstGeom>
          <a:noFill/>
          <a:ln cap="flat" cmpd="sng" w="9525">
            <a:solidFill>
              <a:srgbClr val="D9D9D9"/>
            </a:solidFill>
            <a:prstDash val="solid"/>
            <a:round/>
            <a:headEnd len="sm" w="sm" type="none"/>
            <a:tailEnd len="sm" w="sm" type="none"/>
          </a:ln>
        </p:spPr>
      </p:cxnSp>
      <p:sp>
        <p:nvSpPr>
          <p:cNvPr id="163" name="Google Shape;163;p22"/>
          <p:cNvSpPr/>
          <p:nvPr/>
        </p:nvSpPr>
        <p:spPr>
          <a:xfrm>
            <a:off x="342900" y="994410"/>
            <a:ext cx="82296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800"/>
              <a:buFont typeface="Calibri"/>
              <a:buNone/>
            </a:pPr>
            <a:r>
              <a:t/>
            </a:r>
            <a:endParaRPr b="0" i="0" sz="800" u="none" cap="none" strike="noStrike">
              <a:solidFill>
                <a:schemeClr val="dk1"/>
              </a:solidFill>
              <a:latin typeface="Calibri"/>
              <a:ea typeface="Calibri"/>
              <a:cs typeface="Calibri"/>
              <a:sym typeface="Calibri"/>
            </a:endParaRPr>
          </a:p>
        </p:txBody>
      </p:sp>
      <p:sp>
        <p:nvSpPr>
          <p:cNvPr id="164" name="Google Shape;164;p22"/>
          <p:cNvSpPr/>
          <p:nvPr/>
        </p:nvSpPr>
        <p:spPr>
          <a:xfrm>
            <a:off x="6343650" y="1371600"/>
            <a:ext cx="2468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200"/>
              <a:buFont typeface="Calibri"/>
              <a:buNone/>
            </a:pPr>
            <a:r>
              <a:rPr b="1" i="0" lang="en" sz="1200" u="none" cap="none" strike="noStrike">
                <a:solidFill>
                  <a:srgbClr val="1A1A1A"/>
                </a:solidFill>
                <a:latin typeface="Calibri"/>
                <a:ea typeface="Calibri"/>
                <a:cs typeface="Calibri"/>
                <a:sym typeface="Calibri"/>
              </a:rPr>
              <a:t>What to point at</a:t>
            </a:r>
            <a:endParaRPr b="0" i="0" sz="1200" u="none" cap="none" strike="noStrike">
              <a:solidFill>
                <a:schemeClr val="dk1"/>
              </a:solidFill>
              <a:latin typeface="Calibri"/>
              <a:ea typeface="Calibri"/>
              <a:cs typeface="Calibri"/>
              <a:sym typeface="Calibri"/>
            </a:endParaRPr>
          </a:p>
        </p:txBody>
      </p:sp>
      <p:sp>
        <p:nvSpPr>
          <p:cNvPr id="165" name="Google Shape;165;p22"/>
          <p:cNvSpPr/>
          <p:nvPr/>
        </p:nvSpPr>
        <p:spPr>
          <a:xfrm>
            <a:off x="6343650" y="1714500"/>
            <a:ext cx="2468880" cy="2743200"/>
          </a:xfrm>
          <a:prstGeom prst="rect">
            <a:avLst/>
          </a:prstGeom>
          <a:noFill/>
          <a:ln>
            <a:noFill/>
          </a:ln>
        </p:spPr>
        <p:txBody>
          <a:bodyPr anchorCtr="0" anchor="t" bIns="34275" lIns="68575" spcFirstLastPara="1" rIns="68575" wrap="square" tIns="34275">
            <a:noAutofit/>
          </a:bodyPr>
          <a:lstStyle/>
          <a:p>
            <a:pPr indent="-266700" lvl="0" marL="254000" marR="0" rtl="0" algn="l">
              <a:spcBef>
                <a:spcPts val="0"/>
              </a:spcBef>
              <a:spcAft>
                <a:spcPts val="0"/>
              </a:spcAft>
              <a:buClr>
                <a:srgbClr val="1A1A1A"/>
              </a:buClr>
              <a:buSzPts val="1200"/>
              <a:buFont typeface="Calibri"/>
              <a:buChar char="•"/>
            </a:pPr>
            <a:r>
              <a:rPr b="0" i="0" lang="en" sz="1200" u="none" cap="none" strike="noStrike">
                <a:solidFill>
                  <a:srgbClr val="1A1A1A"/>
                </a:solidFill>
                <a:latin typeface="Calibri"/>
                <a:ea typeface="Calibri"/>
                <a:cs typeface="Calibri"/>
                <a:sym typeface="Calibri"/>
              </a:rPr>
              <a:t>At FP16, Qwen occupied 17.8 GiB total with very little headroom left for the KV cache pool.</a:t>
            </a:r>
            <a:endParaRPr b="0" i="0" sz="1200" u="none" cap="none" strike="noStrike">
              <a:solidFill>
                <a:schemeClr val="dk1"/>
              </a:solidFill>
              <a:latin typeface="Calibri"/>
              <a:ea typeface="Calibri"/>
              <a:cs typeface="Calibri"/>
              <a:sym typeface="Calibri"/>
            </a:endParaRPr>
          </a:p>
          <a:p>
            <a:pPr indent="-266700" lvl="0" marL="254000" marR="0" rtl="0" algn="l">
              <a:spcBef>
                <a:spcPts val="600"/>
              </a:spcBef>
              <a:spcAft>
                <a:spcPts val="0"/>
              </a:spcAft>
              <a:buClr>
                <a:srgbClr val="1A1A1A"/>
              </a:buClr>
              <a:buSzPts val="1200"/>
              <a:buFont typeface="Calibri"/>
              <a:buChar char="•"/>
            </a:pPr>
            <a:r>
              <a:rPr b="0" i="0" lang="en" sz="1200" u="none" cap="none" strike="noStrike">
                <a:solidFill>
                  <a:srgbClr val="1A1A1A"/>
                </a:solidFill>
                <a:latin typeface="Calibri"/>
                <a:ea typeface="Calibri"/>
                <a:cs typeface="Calibri"/>
                <a:sym typeface="Calibri"/>
              </a:rPr>
              <a:t>AWQ INT4 packing on Llama dropped weight footprint from 15.54 GiB to 5.9 GiB, freeing 9.6 GiB for the KV cache.</a:t>
            </a:r>
            <a:endParaRPr b="0" i="0" sz="1200" u="none" cap="none" strike="noStrike">
              <a:solidFill>
                <a:schemeClr val="dk1"/>
              </a:solidFill>
              <a:latin typeface="Calibri"/>
              <a:ea typeface="Calibri"/>
              <a:cs typeface="Calibri"/>
              <a:sym typeface="Calibri"/>
            </a:endParaRPr>
          </a:p>
          <a:p>
            <a:pPr indent="-266700" lvl="0" marL="254000" marR="0" rtl="0" algn="l">
              <a:spcBef>
                <a:spcPts val="600"/>
              </a:spcBef>
              <a:spcAft>
                <a:spcPts val="0"/>
              </a:spcAft>
              <a:buClr>
                <a:srgbClr val="1A1A1A"/>
              </a:buClr>
              <a:buSzPts val="1200"/>
              <a:buFont typeface="Calibri"/>
              <a:buChar char="•"/>
            </a:pPr>
            <a:r>
              <a:rPr b="0" i="0" lang="en" sz="1200" u="none" cap="none" strike="noStrike">
                <a:solidFill>
                  <a:srgbClr val="1A1A1A"/>
                </a:solidFill>
                <a:latin typeface="Calibri"/>
                <a:ea typeface="Calibri"/>
                <a:cs typeface="Calibri"/>
                <a:sym typeface="Calibri"/>
              </a:rPr>
              <a:t>KV cache pool grew from 2.59 GiB → 12.23 GiB (4.7×): 21K → 100K concurrent tokens.</a:t>
            </a:r>
            <a:endParaRPr b="0" i="0" sz="1200" u="none" cap="none" strike="noStrike">
              <a:solidFill>
                <a:schemeClr val="dk1"/>
              </a:solidFill>
              <a:latin typeface="Calibri"/>
              <a:ea typeface="Calibri"/>
              <a:cs typeface="Calibri"/>
              <a:sym typeface="Calibri"/>
            </a:endParaRPr>
          </a:p>
          <a:p>
            <a:pPr indent="-266700" lvl="0" marL="254000" marR="0" rtl="0" algn="l">
              <a:spcBef>
                <a:spcPts val="600"/>
              </a:spcBef>
              <a:spcAft>
                <a:spcPts val="0"/>
              </a:spcAft>
              <a:buClr>
                <a:srgbClr val="1A1A1A"/>
              </a:buClr>
              <a:buSzPts val="1200"/>
              <a:buFont typeface="Calibri"/>
              <a:buChar char="•"/>
            </a:pPr>
            <a:r>
              <a:rPr b="0" i="0" lang="en" sz="1200" u="none" cap="none" strike="noStrike">
                <a:solidFill>
                  <a:srgbClr val="1A1A1A"/>
                </a:solidFill>
                <a:latin typeface="Calibri"/>
                <a:ea typeface="Calibri"/>
                <a:cs typeface="Calibri"/>
                <a:sym typeface="Calibri"/>
              </a:rPr>
              <a:t>Generic calibration produced one runaway request at 121.8 s that inflated the Llama L1g mean from 3,063 ms (p50) to 7,814 ms, a clear reliability failure absent from domain calibration.</a:t>
            </a:r>
            <a:endParaRPr b="0" i="0" sz="1200" u="none" cap="none" strike="noStrike">
              <a:solidFill>
                <a:schemeClr val="dk1"/>
              </a:solidFill>
              <a:latin typeface="Calibri"/>
              <a:ea typeface="Calibri"/>
              <a:cs typeface="Calibri"/>
              <a:sym typeface="Calibri"/>
            </a:endParaRPr>
          </a:p>
        </p:txBody>
      </p:sp>
      <p:sp>
        <p:nvSpPr>
          <p:cNvPr id="166" name="Google Shape;166;p22"/>
          <p:cNvSpPr/>
          <p:nvPr/>
        </p:nvSpPr>
        <p:spPr>
          <a:xfrm>
            <a:off x="342900" y="4903470"/>
            <a:ext cx="41148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800"/>
              <a:buFont typeface="Calibri"/>
              <a:buNone/>
            </a:pPr>
            <a:r>
              <a:rPr b="0" i="1" lang="en" sz="800" u="none" cap="none" strike="noStrike">
                <a:solidFill>
                  <a:srgbClr val="6B6F76"/>
                </a:solidFill>
                <a:latin typeface="Calibri"/>
                <a:ea typeface="Calibri"/>
                <a:cs typeface="Calibri"/>
                <a:sym typeface="Calibri"/>
              </a:rPr>
              <a:t>HPML · Spring 2026</a:t>
            </a:r>
            <a:endParaRPr b="0" i="0" sz="800" u="none" cap="none" strike="noStrike">
              <a:solidFill>
                <a:schemeClr val="dk1"/>
              </a:solidFill>
              <a:latin typeface="Calibri"/>
              <a:ea typeface="Calibri"/>
              <a:cs typeface="Calibri"/>
              <a:sym typeface="Calibri"/>
            </a:endParaRPr>
          </a:p>
        </p:txBody>
      </p:sp>
      <p:pic>
        <p:nvPicPr>
          <p:cNvPr id="167" name="Google Shape;167;p22"/>
          <p:cNvPicPr preferRelativeResize="0"/>
          <p:nvPr/>
        </p:nvPicPr>
        <p:blipFill rotWithShape="1">
          <a:blip r:embed="rId3">
            <a:alphaModFix/>
          </a:blip>
          <a:srcRect b="7485" l="896" r="1724" t="21360"/>
          <a:stretch/>
        </p:blipFill>
        <p:spPr>
          <a:xfrm>
            <a:off x="342900" y="1503250"/>
            <a:ext cx="5880398" cy="2417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1" name="Shape 171"/>
        <p:cNvGrpSpPr/>
        <p:nvPr/>
      </p:nvGrpSpPr>
      <p:grpSpPr>
        <a:xfrm>
          <a:off x="0" y="0"/>
          <a:ext cx="0" cy="0"/>
          <a:chOff x="0" y="0"/>
          <a:chExt cx="0" cy="0"/>
        </a:xfrm>
      </p:grpSpPr>
      <p:sp>
        <p:nvSpPr>
          <p:cNvPr id="172" name="Google Shape;172;p23"/>
          <p:cNvSpPr/>
          <p:nvPr/>
        </p:nvSpPr>
        <p:spPr>
          <a:xfrm>
            <a:off x="342900" y="377190"/>
            <a:ext cx="8455914"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400"/>
              <a:buFont typeface="Calibri"/>
              <a:buNone/>
            </a:pPr>
            <a:r>
              <a:rPr b="1" i="0" lang="en" sz="2400" u="none" cap="none" strike="noStrike">
                <a:solidFill>
                  <a:srgbClr val="1A1A1A"/>
                </a:solidFill>
                <a:latin typeface="Calibri"/>
                <a:ea typeface="Calibri"/>
                <a:cs typeface="Calibri"/>
                <a:sym typeface="Calibri"/>
              </a:rPr>
              <a:t>Results: Latency-Accuracy Tradeoff</a:t>
            </a:r>
            <a:endParaRPr sz="1100"/>
          </a:p>
        </p:txBody>
      </p:sp>
      <p:cxnSp>
        <p:nvCxnSpPr>
          <p:cNvPr id="173" name="Google Shape;173;p23"/>
          <p:cNvCxnSpPr/>
          <p:nvPr/>
        </p:nvCxnSpPr>
        <p:spPr>
          <a:xfrm>
            <a:off x="342900" y="891540"/>
            <a:ext cx="8455914" cy="0"/>
          </a:xfrm>
          <a:prstGeom prst="straightConnector1">
            <a:avLst/>
          </a:prstGeom>
          <a:noFill/>
          <a:ln cap="flat" cmpd="sng" w="9525">
            <a:solidFill>
              <a:srgbClr val="D9D9D9"/>
            </a:solidFill>
            <a:prstDash val="solid"/>
            <a:round/>
            <a:headEnd len="sm" w="sm" type="none"/>
            <a:tailEnd len="sm" w="sm" type="none"/>
          </a:ln>
        </p:spPr>
      </p:cxnSp>
      <p:sp>
        <p:nvSpPr>
          <p:cNvPr id="174" name="Google Shape;174;p23"/>
          <p:cNvSpPr/>
          <p:nvPr/>
        </p:nvSpPr>
        <p:spPr>
          <a:xfrm>
            <a:off x="5897880" y="1371600"/>
            <a:ext cx="29489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200"/>
              <a:buFont typeface="Calibri"/>
              <a:buNone/>
            </a:pPr>
            <a:r>
              <a:rPr b="1" i="0" lang="en" sz="1600" u="none" cap="none" strike="noStrike">
                <a:solidFill>
                  <a:srgbClr val="1A1A1A"/>
                </a:solidFill>
                <a:latin typeface="Calibri"/>
                <a:ea typeface="Calibri"/>
                <a:cs typeface="Calibri"/>
                <a:sym typeface="Calibri"/>
              </a:rPr>
              <a:t>Key takeaways</a:t>
            </a:r>
            <a:endParaRPr sz="1500"/>
          </a:p>
        </p:txBody>
      </p:sp>
      <p:sp>
        <p:nvSpPr>
          <p:cNvPr id="175" name="Google Shape;175;p23"/>
          <p:cNvSpPr/>
          <p:nvPr/>
        </p:nvSpPr>
        <p:spPr>
          <a:xfrm>
            <a:off x="5897880" y="1714500"/>
            <a:ext cx="2948940" cy="2743200"/>
          </a:xfrm>
          <a:prstGeom prst="rect">
            <a:avLst/>
          </a:prstGeom>
          <a:noFill/>
          <a:ln>
            <a:noFill/>
          </a:ln>
        </p:spPr>
        <p:txBody>
          <a:bodyPr anchorCtr="0" anchor="t" bIns="34275" lIns="68575" spcFirstLastPara="1" rIns="68575" wrap="square" tIns="34275">
            <a:noAutofit/>
          </a:bodyPr>
          <a:lstStyle/>
          <a:p>
            <a:pPr indent="-279400" lvl="0" marL="254000" marR="0" rtl="0" algn="l">
              <a:spcBef>
                <a:spcPts val="0"/>
              </a:spcBef>
              <a:spcAft>
                <a:spcPts val="0"/>
              </a:spcAft>
              <a:buClr>
                <a:srgbClr val="1A1A1A"/>
              </a:buClr>
              <a:buSzPts val="1400"/>
              <a:buFont typeface="Calibri"/>
              <a:buChar char="•"/>
            </a:pPr>
            <a:r>
              <a:rPr b="0" i="0" lang="en" u="none" cap="none" strike="noStrike">
                <a:solidFill>
                  <a:srgbClr val="1A1A1A"/>
                </a:solidFill>
                <a:latin typeface="Calibri"/>
                <a:ea typeface="Calibri"/>
                <a:cs typeface="Calibri"/>
                <a:sym typeface="Calibri"/>
              </a:rPr>
              <a:t>Qwen L1d (domain AWQ) is the optimal variant: 1.98x mean speedup with accuracy improving from 68.8% to 87.5%.</a:t>
            </a:r>
            <a:endParaRPr sz="1500"/>
          </a:p>
          <a:p>
            <a:pPr indent="-279400" lvl="0" marL="254000" marR="0" rtl="0" algn="l">
              <a:spcBef>
                <a:spcPts val="500"/>
              </a:spcBef>
              <a:spcAft>
                <a:spcPts val="0"/>
              </a:spcAft>
              <a:buClr>
                <a:srgbClr val="1A1A1A"/>
              </a:buClr>
              <a:buSzPts val="1400"/>
              <a:buFont typeface="Calibri"/>
              <a:buChar char="•"/>
            </a:pPr>
            <a:r>
              <a:rPr b="0" i="0" lang="en" u="none" cap="none" strike="noStrike">
                <a:solidFill>
                  <a:srgbClr val="1A1A1A"/>
                </a:solidFill>
                <a:latin typeface="Calibri"/>
                <a:ea typeface="Calibri"/>
                <a:cs typeface="Calibri"/>
                <a:sym typeface="Calibri"/>
              </a:rPr>
              <a:t>Llama L1g achieves the fastest latency at 3,270 ms mean but accuracy is 57.1%</a:t>
            </a:r>
            <a:endParaRPr sz="1500"/>
          </a:p>
          <a:p>
            <a:pPr indent="-279400" lvl="0" marL="254000" marR="0" rtl="0" algn="l">
              <a:spcBef>
                <a:spcPts val="500"/>
              </a:spcBef>
              <a:spcAft>
                <a:spcPts val="0"/>
              </a:spcAft>
              <a:buClr>
                <a:srgbClr val="1A1A1A"/>
              </a:buClr>
              <a:buSzPts val="1400"/>
              <a:buFont typeface="Calibri"/>
              <a:buChar char="•"/>
            </a:pPr>
            <a:r>
              <a:rPr b="0" i="0" lang="en" u="none" cap="none" strike="noStrike">
                <a:solidFill>
                  <a:srgbClr val="1A1A1A"/>
                </a:solidFill>
                <a:latin typeface="Calibri"/>
                <a:ea typeface="Calibri"/>
                <a:cs typeface="Calibri"/>
                <a:sym typeface="Calibri"/>
              </a:rPr>
              <a:t>L2 on Qwen is the fastest p50 (1,314 ms) but accuracy collapsed to 0%, confirming aggressive serving tuning breaks visual generation.</a:t>
            </a:r>
            <a:endParaRPr sz="1500"/>
          </a:p>
          <a:p>
            <a:pPr indent="-279400" lvl="0" marL="254000" marR="0" rtl="0" algn="l">
              <a:spcBef>
                <a:spcPts val="500"/>
              </a:spcBef>
              <a:spcAft>
                <a:spcPts val="0"/>
              </a:spcAft>
              <a:buClr>
                <a:srgbClr val="1A1A1A"/>
              </a:buClr>
              <a:buSzPts val="1400"/>
              <a:buFont typeface="Calibri"/>
              <a:buChar char="•"/>
            </a:pPr>
            <a:r>
              <a:rPr b="0" i="0" lang="en" u="none" cap="none" strike="noStrike">
                <a:solidFill>
                  <a:srgbClr val="1A1A1A"/>
                </a:solidFill>
                <a:latin typeface="Calibri"/>
                <a:ea typeface="Calibri"/>
                <a:cs typeface="Calibri"/>
                <a:sym typeface="Calibri"/>
              </a:rPr>
              <a:t>L3-512 (lower image resolution) shows no latency benefit and no accuracy gain over FP16 baseline.</a:t>
            </a:r>
            <a:endParaRPr sz="1500"/>
          </a:p>
        </p:txBody>
      </p:sp>
      <p:sp>
        <p:nvSpPr>
          <p:cNvPr id="176" name="Google Shape;176;p23"/>
          <p:cNvSpPr/>
          <p:nvPr/>
        </p:nvSpPr>
        <p:spPr>
          <a:xfrm>
            <a:off x="342900" y="4903470"/>
            <a:ext cx="41148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800"/>
              <a:buFont typeface="Calibri"/>
              <a:buNone/>
            </a:pPr>
            <a:r>
              <a:rPr b="0" i="1" lang="en" sz="800" u="none" cap="none" strike="noStrike">
                <a:solidFill>
                  <a:srgbClr val="6B6F76"/>
                </a:solidFill>
                <a:latin typeface="Calibri"/>
                <a:ea typeface="Calibri"/>
                <a:cs typeface="Calibri"/>
                <a:sym typeface="Calibri"/>
              </a:rPr>
              <a:t>HPML · Spring 2026</a:t>
            </a:r>
            <a:endParaRPr sz="1100"/>
          </a:p>
        </p:txBody>
      </p:sp>
      <p:pic>
        <p:nvPicPr>
          <p:cNvPr id="177" name="Google Shape;177;p23"/>
          <p:cNvPicPr preferRelativeResize="0"/>
          <p:nvPr/>
        </p:nvPicPr>
        <p:blipFill rotWithShape="1">
          <a:blip r:embed="rId3">
            <a:alphaModFix/>
          </a:blip>
          <a:srcRect b="0" l="0" r="0" t="0"/>
          <a:stretch/>
        </p:blipFill>
        <p:spPr>
          <a:xfrm>
            <a:off x="342900" y="1035000"/>
            <a:ext cx="5349240" cy="1830000"/>
          </a:xfrm>
          <a:prstGeom prst="rect">
            <a:avLst/>
          </a:prstGeom>
          <a:noFill/>
          <a:ln>
            <a:noFill/>
          </a:ln>
        </p:spPr>
      </p:pic>
      <p:pic>
        <p:nvPicPr>
          <p:cNvPr id="178" name="Google Shape;178;p23"/>
          <p:cNvPicPr preferRelativeResize="0"/>
          <p:nvPr/>
        </p:nvPicPr>
        <p:blipFill rotWithShape="1">
          <a:blip r:embed="rId4">
            <a:alphaModFix/>
          </a:blip>
          <a:srcRect b="0" l="0" r="0" t="0"/>
          <a:stretch/>
        </p:blipFill>
        <p:spPr>
          <a:xfrm>
            <a:off x="342900" y="2925000"/>
            <a:ext cx="5349240" cy="1785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2" name="Shape 182"/>
        <p:cNvGrpSpPr/>
        <p:nvPr/>
      </p:nvGrpSpPr>
      <p:grpSpPr>
        <a:xfrm>
          <a:off x="0" y="0"/>
          <a:ext cx="0" cy="0"/>
          <a:chOff x="0" y="0"/>
          <a:chExt cx="0" cy="0"/>
        </a:xfrm>
      </p:grpSpPr>
      <p:sp>
        <p:nvSpPr>
          <p:cNvPr id="183" name="Google Shape;183;p24"/>
          <p:cNvSpPr/>
          <p:nvPr/>
        </p:nvSpPr>
        <p:spPr>
          <a:xfrm>
            <a:off x="342900" y="377190"/>
            <a:ext cx="8455914"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400"/>
              <a:buFont typeface="Calibri"/>
              <a:buNone/>
            </a:pPr>
            <a:r>
              <a:rPr b="1" i="0" lang="en" sz="2400" u="none" cap="none" strike="noStrike">
                <a:solidFill>
                  <a:srgbClr val="1A1A1A"/>
                </a:solidFill>
                <a:latin typeface="Calibri"/>
                <a:ea typeface="Calibri"/>
                <a:cs typeface="Calibri"/>
                <a:sym typeface="Calibri"/>
              </a:rPr>
              <a:t>Results: Cross-Family and Calibration Comparison</a:t>
            </a:r>
            <a:endParaRPr sz="1100"/>
          </a:p>
        </p:txBody>
      </p:sp>
      <p:cxnSp>
        <p:nvCxnSpPr>
          <p:cNvPr id="184" name="Google Shape;184;p24"/>
          <p:cNvCxnSpPr/>
          <p:nvPr/>
        </p:nvCxnSpPr>
        <p:spPr>
          <a:xfrm>
            <a:off x="342900" y="891540"/>
            <a:ext cx="8455914" cy="0"/>
          </a:xfrm>
          <a:prstGeom prst="straightConnector1">
            <a:avLst/>
          </a:prstGeom>
          <a:noFill/>
          <a:ln cap="flat" cmpd="sng" w="9525">
            <a:solidFill>
              <a:srgbClr val="D9D9D9"/>
            </a:solidFill>
            <a:prstDash val="solid"/>
            <a:round/>
            <a:headEnd len="sm" w="sm" type="none"/>
            <a:tailEnd len="sm" w="sm" type="none"/>
          </a:ln>
        </p:spPr>
      </p:cxnSp>
      <p:sp>
        <p:nvSpPr>
          <p:cNvPr id="185" name="Google Shape;185;p24"/>
          <p:cNvSpPr/>
          <p:nvPr/>
        </p:nvSpPr>
        <p:spPr>
          <a:xfrm>
            <a:off x="5897880" y="1371600"/>
            <a:ext cx="29489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200"/>
              <a:buFont typeface="Calibri"/>
              <a:buNone/>
            </a:pPr>
            <a:r>
              <a:rPr b="1" i="0" lang="en" sz="1700" u="none" cap="none" strike="noStrike">
                <a:solidFill>
                  <a:srgbClr val="1A1A1A"/>
                </a:solidFill>
                <a:latin typeface="Calibri"/>
                <a:ea typeface="Calibri"/>
                <a:cs typeface="Calibri"/>
                <a:sym typeface="Calibri"/>
              </a:rPr>
              <a:t>Key takeaways</a:t>
            </a:r>
            <a:endParaRPr sz="1600"/>
          </a:p>
        </p:txBody>
      </p:sp>
      <p:sp>
        <p:nvSpPr>
          <p:cNvPr id="186" name="Google Shape;186;p24"/>
          <p:cNvSpPr/>
          <p:nvPr/>
        </p:nvSpPr>
        <p:spPr>
          <a:xfrm>
            <a:off x="5897880" y="1714500"/>
            <a:ext cx="2948940" cy="2743200"/>
          </a:xfrm>
          <a:prstGeom prst="rect">
            <a:avLst/>
          </a:prstGeom>
          <a:noFill/>
          <a:ln>
            <a:noFill/>
          </a:ln>
        </p:spPr>
        <p:txBody>
          <a:bodyPr anchorCtr="0" anchor="t" bIns="34275" lIns="68575" spcFirstLastPara="1" rIns="68575" wrap="square" tIns="34275">
            <a:noAutofit/>
          </a:bodyPr>
          <a:lstStyle/>
          <a:p>
            <a:pPr indent="-273050" lvl="0" marL="254000" marR="0" rtl="0" algn="l">
              <a:spcBef>
                <a:spcPts val="0"/>
              </a:spcBef>
              <a:spcAft>
                <a:spcPts val="0"/>
              </a:spcAft>
              <a:buClr>
                <a:srgbClr val="1A1A1A"/>
              </a:buClr>
              <a:buSzPts val="1300"/>
              <a:buFont typeface="Calibri"/>
              <a:buChar char="•"/>
            </a:pPr>
            <a:r>
              <a:rPr b="0" i="0" lang="en" sz="1300" u="none" cap="none" strike="noStrike">
                <a:solidFill>
                  <a:srgbClr val="1A1A1A"/>
                </a:solidFill>
                <a:latin typeface="Calibri"/>
                <a:ea typeface="Calibri"/>
                <a:cs typeface="Calibri"/>
                <a:sym typeface="Calibri"/>
              </a:rPr>
              <a:t>Qwen INT4 domain </a:t>
            </a:r>
            <a:r>
              <a:rPr lang="en" sz="1300">
                <a:solidFill>
                  <a:srgbClr val="1A1A1A"/>
                </a:solidFill>
                <a:latin typeface="Calibri"/>
                <a:ea typeface="Calibri"/>
                <a:cs typeface="Calibri"/>
                <a:sym typeface="Calibri"/>
              </a:rPr>
              <a:t>is more accurate than</a:t>
            </a:r>
            <a:r>
              <a:rPr b="0" i="0" lang="en" sz="1300" u="none" cap="none" strike="noStrike">
                <a:solidFill>
                  <a:srgbClr val="1A1A1A"/>
                </a:solidFill>
                <a:latin typeface="Calibri"/>
                <a:ea typeface="Calibri"/>
                <a:cs typeface="Calibri"/>
                <a:sym typeface="Calibri"/>
              </a:rPr>
              <a:t> Llama INT4 domain on both axes: Llama is faster (4,7</a:t>
            </a:r>
            <a:r>
              <a:rPr lang="en" sz="1300">
                <a:solidFill>
                  <a:srgbClr val="1A1A1A"/>
                </a:solidFill>
                <a:latin typeface="Calibri"/>
                <a:ea typeface="Calibri"/>
                <a:cs typeface="Calibri"/>
                <a:sym typeface="Calibri"/>
              </a:rPr>
              <a:t>5</a:t>
            </a:r>
            <a:r>
              <a:rPr b="0" i="0" lang="en" sz="1300" u="none" cap="none" strike="noStrike">
                <a:solidFill>
                  <a:srgbClr val="1A1A1A"/>
                </a:solidFill>
                <a:latin typeface="Calibri"/>
                <a:ea typeface="Calibri"/>
                <a:cs typeface="Calibri"/>
                <a:sym typeface="Calibri"/>
              </a:rPr>
              <a:t>2 vs 3,7</a:t>
            </a:r>
            <a:r>
              <a:rPr lang="en" sz="1300">
                <a:solidFill>
                  <a:srgbClr val="1A1A1A"/>
                </a:solidFill>
                <a:latin typeface="Calibri"/>
                <a:ea typeface="Calibri"/>
                <a:cs typeface="Calibri"/>
                <a:sym typeface="Calibri"/>
              </a:rPr>
              <a:t>36</a:t>
            </a:r>
            <a:r>
              <a:rPr b="0" i="0" lang="en" sz="1300" u="none" cap="none" strike="noStrike">
                <a:solidFill>
                  <a:srgbClr val="1A1A1A"/>
                </a:solidFill>
                <a:latin typeface="Calibri"/>
                <a:ea typeface="Calibri"/>
                <a:cs typeface="Calibri"/>
                <a:sym typeface="Calibri"/>
              </a:rPr>
              <a:t> ms mean) and </a:t>
            </a:r>
            <a:r>
              <a:rPr lang="en" sz="1300">
                <a:solidFill>
                  <a:srgbClr val="1A1A1A"/>
                </a:solidFill>
                <a:latin typeface="Calibri"/>
                <a:ea typeface="Calibri"/>
                <a:cs typeface="Calibri"/>
                <a:sym typeface="Calibri"/>
              </a:rPr>
              <a:t>Qwen is more</a:t>
            </a:r>
            <a:r>
              <a:rPr b="0" i="0" lang="en" sz="1300" u="none" cap="none" strike="noStrike">
                <a:solidFill>
                  <a:srgbClr val="1A1A1A"/>
                </a:solidFill>
                <a:latin typeface="Calibri"/>
                <a:ea typeface="Calibri"/>
                <a:cs typeface="Calibri"/>
                <a:sym typeface="Calibri"/>
              </a:rPr>
              <a:t> accurate (87.5% vs 50%).</a:t>
            </a:r>
            <a:endParaRPr/>
          </a:p>
          <a:p>
            <a:pPr indent="-273050" lvl="0" marL="254000" marR="0" rtl="0" algn="l">
              <a:spcBef>
                <a:spcPts val="500"/>
              </a:spcBef>
              <a:spcAft>
                <a:spcPts val="0"/>
              </a:spcAft>
              <a:buClr>
                <a:srgbClr val="1A1A1A"/>
              </a:buClr>
              <a:buSzPts val="1300"/>
              <a:buFont typeface="Calibri"/>
              <a:buChar char="•"/>
            </a:pPr>
            <a:r>
              <a:rPr b="0" i="0" lang="en" sz="1300" u="none" cap="none" strike="noStrike">
                <a:solidFill>
                  <a:srgbClr val="1A1A1A"/>
                </a:solidFill>
                <a:latin typeface="Calibri"/>
                <a:ea typeface="Calibri"/>
                <a:cs typeface="Calibri"/>
                <a:sym typeface="Calibri"/>
              </a:rPr>
              <a:t>Domain calibration beats generic on accuracy for both model families. Generic is marginally faster but unreliable.</a:t>
            </a:r>
            <a:endParaRPr/>
          </a:p>
          <a:p>
            <a:pPr indent="-273050" lvl="0" marL="254000" marR="0" rtl="0" algn="l">
              <a:spcBef>
                <a:spcPts val="500"/>
              </a:spcBef>
              <a:spcAft>
                <a:spcPts val="0"/>
              </a:spcAft>
              <a:buClr>
                <a:srgbClr val="1A1A1A"/>
              </a:buClr>
              <a:buSzPts val="1300"/>
              <a:buFont typeface="Calibri"/>
              <a:buChar char="•"/>
            </a:pPr>
            <a:r>
              <a:rPr b="0" i="0" lang="en" sz="1300" u="none" cap="none" strike="noStrike">
                <a:solidFill>
                  <a:srgbClr val="1A1A1A"/>
                </a:solidFill>
                <a:latin typeface="Calibri"/>
                <a:ea typeface="Calibri"/>
                <a:cs typeface="Calibri"/>
                <a:sym typeface="Calibri"/>
              </a:rPr>
              <a:t>For Qwen: domain AWQ raised accuracy from 68.8% (FP16) to 87.5%. Generic AWQ gave 75% accuracy at similar speed.</a:t>
            </a:r>
            <a:endParaRPr/>
          </a:p>
          <a:p>
            <a:pPr indent="-273050" lvl="0" marL="254000" marR="0" rtl="0" algn="l">
              <a:spcBef>
                <a:spcPts val="500"/>
              </a:spcBef>
              <a:spcAft>
                <a:spcPts val="0"/>
              </a:spcAft>
              <a:buClr>
                <a:srgbClr val="1A1A1A"/>
              </a:buClr>
              <a:buSzPts val="1300"/>
              <a:buFont typeface="Calibri"/>
              <a:buChar char="•"/>
            </a:pPr>
            <a:r>
              <a:rPr b="0" i="0" lang="en" sz="1300" u="none" cap="none" strike="noStrike">
                <a:solidFill>
                  <a:srgbClr val="1A1A1A"/>
                </a:solidFill>
                <a:latin typeface="Calibri"/>
                <a:ea typeface="Calibri"/>
                <a:cs typeface="Calibri"/>
                <a:sym typeface="Calibri"/>
              </a:rPr>
              <a:t>Calibration data distribution matters as much as the quantization scheme itself.</a:t>
            </a:r>
            <a:endParaRPr/>
          </a:p>
        </p:txBody>
      </p:sp>
      <p:sp>
        <p:nvSpPr>
          <p:cNvPr id="187" name="Google Shape;187;p24"/>
          <p:cNvSpPr/>
          <p:nvPr/>
        </p:nvSpPr>
        <p:spPr>
          <a:xfrm>
            <a:off x="342900" y="4903470"/>
            <a:ext cx="41148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800"/>
              <a:buFont typeface="Calibri"/>
              <a:buNone/>
            </a:pPr>
            <a:r>
              <a:rPr b="0" i="1" lang="en" sz="800" u="none" cap="none" strike="noStrike">
                <a:solidFill>
                  <a:srgbClr val="6B6F76"/>
                </a:solidFill>
                <a:latin typeface="Calibri"/>
                <a:ea typeface="Calibri"/>
                <a:cs typeface="Calibri"/>
                <a:sym typeface="Calibri"/>
              </a:rPr>
              <a:t>HPML · Spring 2026</a:t>
            </a:r>
            <a:endParaRPr sz="1100"/>
          </a:p>
        </p:txBody>
      </p:sp>
      <p:pic>
        <p:nvPicPr>
          <p:cNvPr id="188" name="Google Shape;188;p24"/>
          <p:cNvPicPr preferRelativeResize="0"/>
          <p:nvPr/>
        </p:nvPicPr>
        <p:blipFill rotWithShape="1">
          <a:blip r:embed="rId3">
            <a:alphaModFix/>
          </a:blip>
          <a:srcRect b="0" l="0" r="0" t="0"/>
          <a:stretch/>
        </p:blipFill>
        <p:spPr>
          <a:xfrm>
            <a:off x="342900" y="1035000"/>
            <a:ext cx="5349240" cy="1867500"/>
          </a:xfrm>
          <a:prstGeom prst="rect">
            <a:avLst/>
          </a:prstGeom>
          <a:noFill/>
          <a:ln>
            <a:noFill/>
          </a:ln>
        </p:spPr>
      </p:pic>
      <p:pic>
        <p:nvPicPr>
          <p:cNvPr id="189" name="Google Shape;189;p24"/>
          <p:cNvPicPr preferRelativeResize="0"/>
          <p:nvPr/>
        </p:nvPicPr>
        <p:blipFill rotWithShape="1">
          <a:blip r:embed="rId4">
            <a:alphaModFix/>
          </a:blip>
          <a:srcRect b="0" l="0" r="0" t="0"/>
          <a:stretch/>
        </p:blipFill>
        <p:spPr>
          <a:xfrm>
            <a:off x="342900" y="2955000"/>
            <a:ext cx="5349240" cy="1755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3" name="Shape 193"/>
        <p:cNvGrpSpPr/>
        <p:nvPr/>
      </p:nvGrpSpPr>
      <p:grpSpPr>
        <a:xfrm>
          <a:off x="0" y="0"/>
          <a:ext cx="0" cy="0"/>
          <a:chOff x="0" y="0"/>
          <a:chExt cx="0" cy="0"/>
        </a:xfrm>
      </p:grpSpPr>
      <p:sp>
        <p:nvSpPr>
          <p:cNvPr id="194" name="Google Shape;194;p25"/>
          <p:cNvSpPr/>
          <p:nvPr/>
        </p:nvSpPr>
        <p:spPr>
          <a:xfrm>
            <a:off x="342900" y="377190"/>
            <a:ext cx="8455914"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400"/>
              <a:buFont typeface="Calibri"/>
              <a:buNone/>
            </a:pPr>
            <a:r>
              <a:rPr b="1" i="0" lang="en" sz="2400" u="none" cap="none" strike="noStrike">
                <a:solidFill>
                  <a:srgbClr val="1A1A1A"/>
                </a:solidFill>
                <a:latin typeface="Calibri"/>
                <a:ea typeface="Calibri"/>
                <a:cs typeface="Calibri"/>
                <a:sym typeface="Calibri"/>
              </a:rPr>
              <a:t>Results: Accuracy by Variant and Category</a:t>
            </a:r>
            <a:endParaRPr sz="1100"/>
          </a:p>
        </p:txBody>
      </p:sp>
      <p:cxnSp>
        <p:nvCxnSpPr>
          <p:cNvPr id="195" name="Google Shape;195;p25"/>
          <p:cNvCxnSpPr/>
          <p:nvPr/>
        </p:nvCxnSpPr>
        <p:spPr>
          <a:xfrm>
            <a:off x="342900" y="891540"/>
            <a:ext cx="8455914" cy="0"/>
          </a:xfrm>
          <a:prstGeom prst="straightConnector1">
            <a:avLst/>
          </a:prstGeom>
          <a:noFill/>
          <a:ln cap="flat" cmpd="sng" w="9525">
            <a:solidFill>
              <a:srgbClr val="D9D9D9"/>
            </a:solidFill>
            <a:prstDash val="solid"/>
            <a:round/>
            <a:headEnd len="sm" w="sm" type="none"/>
            <a:tailEnd len="sm" w="sm" type="none"/>
          </a:ln>
        </p:spPr>
      </p:cxnSp>
      <p:sp>
        <p:nvSpPr>
          <p:cNvPr id="196" name="Google Shape;196;p25"/>
          <p:cNvSpPr/>
          <p:nvPr/>
        </p:nvSpPr>
        <p:spPr>
          <a:xfrm>
            <a:off x="1457680" y="2685000"/>
            <a:ext cx="2949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200"/>
              <a:buFont typeface="Calibri"/>
              <a:buNone/>
            </a:pPr>
            <a:r>
              <a:rPr b="1" i="0" lang="en" sz="1200" u="none" cap="none" strike="noStrike">
                <a:solidFill>
                  <a:srgbClr val="1A1A1A"/>
                </a:solidFill>
                <a:latin typeface="Calibri"/>
                <a:ea typeface="Calibri"/>
                <a:cs typeface="Calibri"/>
                <a:sym typeface="Calibri"/>
              </a:rPr>
              <a:t>Key takeaways</a:t>
            </a:r>
            <a:endParaRPr sz="1100"/>
          </a:p>
        </p:txBody>
      </p:sp>
      <p:sp>
        <p:nvSpPr>
          <p:cNvPr id="197" name="Google Shape;197;p25"/>
          <p:cNvSpPr/>
          <p:nvPr/>
        </p:nvSpPr>
        <p:spPr>
          <a:xfrm>
            <a:off x="1457675" y="2959200"/>
            <a:ext cx="2949000" cy="2150100"/>
          </a:xfrm>
          <a:prstGeom prst="rect">
            <a:avLst/>
          </a:prstGeom>
          <a:noFill/>
          <a:ln>
            <a:noFill/>
          </a:ln>
        </p:spPr>
        <p:txBody>
          <a:bodyPr anchorCtr="0" anchor="t" bIns="34275" lIns="68575" spcFirstLastPara="1" rIns="68575" wrap="square" tIns="34275">
            <a:noAutofit/>
          </a:bodyPr>
          <a:lstStyle/>
          <a:p>
            <a:pPr indent="-254000" lvl="0" marL="254000" marR="0" rtl="0" algn="l">
              <a:spcBef>
                <a:spcPts val="0"/>
              </a:spcBef>
              <a:spcAft>
                <a:spcPts val="0"/>
              </a:spcAft>
              <a:buClr>
                <a:srgbClr val="1A1A1A"/>
              </a:buClr>
              <a:buSzPts val="1000"/>
              <a:buFont typeface="Calibri"/>
              <a:buChar char="•"/>
            </a:pPr>
            <a:r>
              <a:rPr b="0" i="0" lang="en" sz="1000" u="none" cap="none" strike="noStrike">
                <a:solidFill>
                  <a:srgbClr val="1A1A1A"/>
                </a:solidFill>
                <a:latin typeface="Calibri"/>
                <a:ea typeface="Calibri"/>
                <a:cs typeface="Calibri"/>
                <a:sym typeface="Calibri"/>
              </a:rPr>
              <a:t>L1d (Qwen domain AWQ) scores highest at 88% LLM-judge accuracy with mean score 4.1 out of 5.</a:t>
            </a:r>
            <a:endParaRPr sz="1100"/>
          </a:p>
          <a:p>
            <a:pPr indent="-254000" lvl="0" marL="254000" marR="0" rtl="0" algn="l">
              <a:spcBef>
                <a:spcPts val="500"/>
              </a:spcBef>
              <a:spcAft>
                <a:spcPts val="0"/>
              </a:spcAft>
              <a:buClr>
                <a:srgbClr val="1A1A1A"/>
              </a:buClr>
              <a:buSzPts val="1000"/>
              <a:buFont typeface="Calibri"/>
              <a:buChar char="•"/>
            </a:pPr>
            <a:r>
              <a:rPr b="0" i="0" lang="en" sz="1000" u="none" cap="none" strike="noStrike">
                <a:solidFill>
                  <a:srgbClr val="1A1A1A"/>
                </a:solidFill>
                <a:latin typeface="Calibri"/>
                <a:ea typeface="Calibri"/>
                <a:cs typeface="Calibri"/>
                <a:sym typeface="Calibri"/>
              </a:rPr>
              <a:t>L2 (Qwen full bundle) scores 0% across all categories, confirming serving tuning completely broke generation quality.</a:t>
            </a:r>
            <a:endParaRPr sz="1100"/>
          </a:p>
          <a:p>
            <a:pPr indent="-254000" lvl="0" marL="254000" marR="0" rtl="0" algn="l">
              <a:spcBef>
                <a:spcPts val="500"/>
              </a:spcBef>
              <a:spcAft>
                <a:spcPts val="0"/>
              </a:spcAft>
              <a:buClr>
                <a:srgbClr val="1A1A1A"/>
              </a:buClr>
              <a:buSzPts val="1000"/>
              <a:buFont typeface="Calibri"/>
              <a:buChar char="•"/>
            </a:pPr>
            <a:r>
              <a:rPr b="0" i="0" lang="en" sz="1000" u="none" cap="none" strike="noStrike">
                <a:solidFill>
                  <a:srgbClr val="1A1A1A"/>
                </a:solidFill>
                <a:latin typeface="Calibri"/>
                <a:ea typeface="Calibri"/>
                <a:cs typeface="Calibri"/>
                <a:sym typeface="Calibri"/>
              </a:rPr>
              <a:t>Decision Support and Anomaly Detection queries are the hardest categories, especially under Llama.</a:t>
            </a:r>
            <a:endParaRPr sz="1100"/>
          </a:p>
          <a:p>
            <a:pPr indent="-254000" lvl="0" marL="254000" marR="0" rtl="0" algn="l">
              <a:spcBef>
                <a:spcPts val="500"/>
              </a:spcBef>
              <a:spcAft>
                <a:spcPts val="0"/>
              </a:spcAft>
              <a:buClr>
                <a:srgbClr val="1A1A1A"/>
              </a:buClr>
              <a:buSzPts val="1000"/>
              <a:buFont typeface="Calibri"/>
              <a:buChar char="•"/>
            </a:pPr>
            <a:r>
              <a:rPr b="0" i="0" lang="en" sz="1000" u="none" cap="none" strike="noStrike">
                <a:solidFill>
                  <a:srgbClr val="1A1A1A"/>
                </a:solidFill>
                <a:latin typeface="Calibri"/>
                <a:ea typeface="Calibri"/>
                <a:cs typeface="Calibri"/>
                <a:sym typeface="Calibri"/>
              </a:rPr>
              <a:t>Data Query and Knowledge Query are consistently easy across all variants, suggesting the VLM handles factual lookups well regardless of quantization.</a:t>
            </a:r>
            <a:endParaRPr sz="1100"/>
          </a:p>
        </p:txBody>
      </p:sp>
      <p:sp>
        <p:nvSpPr>
          <p:cNvPr id="198" name="Google Shape;198;p25"/>
          <p:cNvSpPr/>
          <p:nvPr/>
        </p:nvSpPr>
        <p:spPr>
          <a:xfrm>
            <a:off x="342900" y="4903470"/>
            <a:ext cx="41148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800"/>
              <a:buFont typeface="Calibri"/>
              <a:buNone/>
            </a:pPr>
            <a:r>
              <a:t/>
            </a:r>
            <a:endParaRPr sz="1100"/>
          </a:p>
        </p:txBody>
      </p:sp>
      <p:pic>
        <p:nvPicPr>
          <p:cNvPr id="199" name="Google Shape;199;p25"/>
          <p:cNvPicPr preferRelativeResize="0"/>
          <p:nvPr/>
        </p:nvPicPr>
        <p:blipFill rotWithShape="1">
          <a:blip r:embed="rId3">
            <a:alphaModFix/>
          </a:blip>
          <a:srcRect b="0" l="0" r="0" t="0"/>
          <a:stretch/>
        </p:blipFill>
        <p:spPr>
          <a:xfrm>
            <a:off x="54800" y="1035000"/>
            <a:ext cx="5258174" cy="1650000"/>
          </a:xfrm>
          <a:prstGeom prst="rect">
            <a:avLst/>
          </a:prstGeom>
          <a:noFill/>
          <a:ln>
            <a:noFill/>
          </a:ln>
        </p:spPr>
      </p:pic>
      <p:pic>
        <p:nvPicPr>
          <p:cNvPr id="200" name="Google Shape;200;p25"/>
          <p:cNvPicPr preferRelativeResize="0"/>
          <p:nvPr/>
        </p:nvPicPr>
        <p:blipFill>
          <a:blip r:embed="rId4">
            <a:alphaModFix/>
          </a:blip>
          <a:stretch>
            <a:fillRect/>
          </a:stretch>
        </p:blipFill>
        <p:spPr>
          <a:xfrm>
            <a:off x="5312975" y="1035000"/>
            <a:ext cx="3804526" cy="291572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5" name="Shape 205"/>
        <p:cNvGrpSpPr/>
        <p:nvPr/>
      </p:nvGrpSpPr>
      <p:grpSpPr>
        <a:xfrm>
          <a:off x="0" y="0"/>
          <a:ext cx="0" cy="0"/>
          <a:chOff x="0" y="0"/>
          <a:chExt cx="0" cy="0"/>
        </a:xfrm>
      </p:grpSpPr>
      <p:sp>
        <p:nvSpPr>
          <p:cNvPr id="206" name="Google Shape;206;p26"/>
          <p:cNvSpPr/>
          <p:nvPr/>
        </p:nvSpPr>
        <p:spPr>
          <a:xfrm>
            <a:off x="342900" y="377190"/>
            <a:ext cx="8455914"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400"/>
              <a:buFont typeface="Calibri"/>
              <a:buNone/>
            </a:pPr>
            <a:r>
              <a:rPr b="1" i="0" lang="en" sz="2400" u="none" cap="none" strike="noStrike">
                <a:solidFill>
                  <a:srgbClr val="1A1A1A"/>
                </a:solidFill>
                <a:latin typeface="Calibri"/>
                <a:ea typeface="Calibri"/>
                <a:cs typeface="Calibri"/>
                <a:sym typeface="Calibri"/>
              </a:rPr>
              <a:t>Lessons Learned</a:t>
            </a:r>
            <a:endParaRPr b="0" i="0" sz="2400" u="none" cap="none" strike="noStrike">
              <a:solidFill>
                <a:schemeClr val="dk1"/>
              </a:solidFill>
              <a:latin typeface="Calibri"/>
              <a:ea typeface="Calibri"/>
              <a:cs typeface="Calibri"/>
              <a:sym typeface="Calibri"/>
            </a:endParaRPr>
          </a:p>
        </p:txBody>
      </p:sp>
      <p:cxnSp>
        <p:nvCxnSpPr>
          <p:cNvPr id="207" name="Google Shape;207;p26"/>
          <p:cNvCxnSpPr/>
          <p:nvPr/>
        </p:nvCxnSpPr>
        <p:spPr>
          <a:xfrm>
            <a:off x="342900" y="891540"/>
            <a:ext cx="8455914" cy="0"/>
          </a:xfrm>
          <a:prstGeom prst="straightConnector1">
            <a:avLst/>
          </a:prstGeom>
          <a:noFill/>
          <a:ln cap="flat" cmpd="sng" w="9525">
            <a:solidFill>
              <a:srgbClr val="D9D9D9"/>
            </a:solidFill>
            <a:prstDash val="solid"/>
            <a:round/>
            <a:headEnd len="sm" w="sm" type="none"/>
            <a:tailEnd len="sm" w="sm" type="none"/>
          </a:ln>
        </p:spPr>
      </p:cxnSp>
      <p:sp>
        <p:nvSpPr>
          <p:cNvPr id="208" name="Google Shape;208;p26"/>
          <p:cNvSpPr/>
          <p:nvPr/>
        </p:nvSpPr>
        <p:spPr>
          <a:xfrm>
            <a:off x="342900" y="994410"/>
            <a:ext cx="82296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800"/>
              <a:buFont typeface="Calibri"/>
              <a:buNone/>
            </a:pPr>
            <a:r>
              <a:t/>
            </a:r>
            <a:endParaRPr b="0" i="0" sz="800" u="none" cap="none" strike="noStrike">
              <a:solidFill>
                <a:schemeClr val="dk1"/>
              </a:solidFill>
              <a:latin typeface="Calibri"/>
              <a:ea typeface="Calibri"/>
              <a:cs typeface="Calibri"/>
              <a:sym typeface="Calibri"/>
            </a:endParaRPr>
          </a:p>
        </p:txBody>
      </p:sp>
      <p:sp>
        <p:nvSpPr>
          <p:cNvPr id="209" name="Google Shape;209;p26"/>
          <p:cNvSpPr/>
          <p:nvPr/>
        </p:nvSpPr>
        <p:spPr>
          <a:xfrm>
            <a:off x="342900" y="1371600"/>
            <a:ext cx="4114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200"/>
              <a:buFont typeface="Calibri"/>
              <a:buNone/>
            </a:pPr>
            <a:r>
              <a:rPr b="1" i="0" lang="en" sz="1600" u="none" cap="none" strike="noStrike">
                <a:solidFill>
                  <a:srgbClr val="1A1A1A"/>
                </a:solidFill>
                <a:latin typeface="Calibri"/>
                <a:ea typeface="Calibri"/>
                <a:cs typeface="Calibri"/>
                <a:sym typeface="Calibri"/>
              </a:rPr>
              <a:t>What worked</a:t>
            </a:r>
            <a:endParaRPr b="0" i="0" sz="1600" u="none" cap="none" strike="noStrike">
              <a:solidFill>
                <a:schemeClr val="dk1"/>
              </a:solidFill>
              <a:latin typeface="Calibri"/>
              <a:ea typeface="Calibri"/>
              <a:cs typeface="Calibri"/>
              <a:sym typeface="Calibri"/>
            </a:endParaRPr>
          </a:p>
        </p:txBody>
      </p:sp>
      <p:sp>
        <p:nvSpPr>
          <p:cNvPr id="210" name="Google Shape;210;p26"/>
          <p:cNvSpPr/>
          <p:nvPr/>
        </p:nvSpPr>
        <p:spPr>
          <a:xfrm>
            <a:off x="342900" y="1714500"/>
            <a:ext cx="4114800" cy="3075300"/>
          </a:xfrm>
          <a:prstGeom prst="rect">
            <a:avLst/>
          </a:prstGeom>
          <a:noFill/>
          <a:ln>
            <a:noFill/>
          </a:ln>
        </p:spPr>
        <p:txBody>
          <a:bodyPr anchorCtr="0" anchor="t" bIns="34275" lIns="68575" spcFirstLastPara="1" rIns="68575" wrap="square" tIns="34275">
            <a:noAutofit/>
          </a:bodyPr>
          <a:lstStyle/>
          <a:p>
            <a:pPr indent="-273050" lvl="0" marL="254000" marR="0" rtl="0" algn="l">
              <a:spcBef>
                <a:spcPts val="0"/>
              </a:spcBef>
              <a:spcAft>
                <a:spcPts val="0"/>
              </a:spcAft>
              <a:buClr>
                <a:srgbClr val="1A1A1A"/>
              </a:buClr>
              <a:buSzPts val="1500"/>
              <a:buFont typeface="Calibri"/>
              <a:buChar char="•"/>
            </a:pPr>
            <a:r>
              <a:rPr b="0" i="0" lang="en" sz="1500" u="none" cap="none" strike="noStrike">
                <a:solidFill>
                  <a:srgbClr val="1A1A1A"/>
                </a:solidFill>
                <a:latin typeface="Calibri"/>
                <a:ea typeface="Calibri"/>
                <a:cs typeface="Calibri"/>
                <a:sym typeface="Calibri"/>
              </a:rPr>
              <a:t>Domain-calibrated AWQ delivers reliable 2.05× speedup; calibration data distribution matters as much as quantization scheme.</a:t>
            </a:r>
            <a:endParaRPr b="0" i="0" sz="1500" u="none" cap="none" strike="noStrike">
              <a:solidFill>
                <a:schemeClr val="dk1"/>
              </a:solidFill>
              <a:latin typeface="Calibri"/>
              <a:ea typeface="Calibri"/>
              <a:cs typeface="Calibri"/>
              <a:sym typeface="Calibri"/>
            </a:endParaRPr>
          </a:p>
          <a:p>
            <a:pPr indent="-273050" lvl="0" marL="254000" marR="0" rtl="0" algn="l">
              <a:spcBef>
                <a:spcPts val="600"/>
              </a:spcBef>
              <a:spcAft>
                <a:spcPts val="0"/>
              </a:spcAft>
              <a:buClr>
                <a:srgbClr val="1A1A1A"/>
              </a:buClr>
              <a:buSzPts val="1500"/>
              <a:buFont typeface="Calibri"/>
              <a:buChar char="•"/>
            </a:pPr>
            <a:r>
              <a:rPr b="0" i="0" lang="en" sz="1500" u="none" cap="none" strike="noStrike">
                <a:solidFill>
                  <a:srgbClr val="1A1A1A"/>
                </a:solidFill>
                <a:latin typeface="Calibri"/>
                <a:ea typeface="Calibri"/>
                <a:cs typeface="Calibri"/>
                <a:sym typeface="Calibri"/>
              </a:rPr>
              <a:t>Serving the VLM in dual-purpose mode (planner and vision tool) on one L4 eliminated the WatsonX API dependency entirely.</a:t>
            </a:r>
            <a:endParaRPr b="0" i="0" sz="1500" u="none" cap="none" strike="noStrike">
              <a:solidFill>
                <a:schemeClr val="dk1"/>
              </a:solidFill>
              <a:latin typeface="Calibri"/>
              <a:ea typeface="Calibri"/>
              <a:cs typeface="Calibri"/>
              <a:sym typeface="Calibri"/>
            </a:endParaRPr>
          </a:p>
          <a:p>
            <a:pPr indent="-273050" lvl="0" marL="254000" marR="0" rtl="0" algn="l">
              <a:spcBef>
                <a:spcPts val="600"/>
              </a:spcBef>
              <a:spcAft>
                <a:spcPts val="0"/>
              </a:spcAft>
              <a:buClr>
                <a:srgbClr val="1A1A1A"/>
              </a:buClr>
              <a:buSzPts val="1500"/>
              <a:buFont typeface="Calibri"/>
              <a:buChar char="•"/>
            </a:pPr>
            <a:r>
              <a:rPr b="0" i="0" lang="en" sz="1500" u="none" cap="none" strike="noStrike">
                <a:solidFill>
                  <a:srgbClr val="1A1A1A"/>
                </a:solidFill>
                <a:latin typeface="Calibri"/>
                <a:ea typeface="Calibri"/>
                <a:cs typeface="Calibri"/>
                <a:sym typeface="Calibri"/>
              </a:rPr>
              <a:t>The AssetOpsBench JSON scenario schema extended cleanly to vision. Adding a Vision type required no upstream code changes.</a:t>
            </a:r>
            <a:endParaRPr b="0" i="0" sz="1500" u="none" cap="none" strike="noStrike">
              <a:solidFill>
                <a:schemeClr val="dk1"/>
              </a:solidFill>
              <a:latin typeface="Calibri"/>
              <a:ea typeface="Calibri"/>
              <a:cs typeface="Calibri"/>
              <a:sym typeface="Calibri"/>
            </a:endParaRPr>
          </a:p>
        </p:txBody>
      </p:sp>
      <p:sp>
        <p:nvSpPr>
          <p:cNvPr id="211" name="Google Shape;211;p26"/>
          <p:cNvSpPr/>
          <p:nvPr/>
        </p:nvSpPr>
        <p:spPr>
          <a:xfrm>
            <a:off x="4697730" y="1371600"/>
            <a:ext cx="4114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200"/>
              <a:buFont typeface="Calibri"/>
              <a:buNone/>
            </a:pPr>
            <a:r>
              <a:rPr b="1" i="0" lang="en" sz="1600" u="none" cap="none" strike="noStrike">
                <a:solidFill>
                  <a:srgbClr val="1A1A1A"/>
                </a:solidFill>
                <a:latin typeface="Calibri"/>
                <a:ea typeface="Calibri"/>
                <a:cs typeface="Calibri"/>
                <a:sym typeface="Calibri"/>
              </a:rPr>
              <a:t>What didn't work</a:t>
            </a:r>
            <a:endParaRPr b="0" i="0" sz="1600" u="none" cap="none" strike="noStrike">
              <a:solidFill>
                <a:schemeClr val="dk1"/>
              </a:solidFill>
              <a:latin typeface="Calibri"/>
              <a:ea typeface="Calibri"/>
              <a:cs typeface="Calibri"/>
              <a:sym typeface="Calibri"/>
            </a:endParaRPr>
          </a:p>
        </p:txBody>
      </p:sp>
      <p:sp>
        <p:nvSpPr>
          <p:cNvPr id="212" name="Google Shape;212;p26"/>
          <p:cNvSpPr/>
          <p:nvPr/>
        </p:nvSpPr>
        <p:spPr>
          <a:xfrm>
            <a:off x="4697725" y="1714500"/>
            <a:ext cx="4114800" cy="3189000"/>
          </a:xfrm>
          <a:prstGeom prst="rect">
            <a:avLst/>
          </a:prstGeom>
          <a:noFill/>
          <a:ln>
            <a:noFill/>
          </a:ln>
        </p:spPr>
        <p:txBody>
          <a:bodyPr anchorCtr="0" anchor="t" bIns="34275" lIns="68575" spcFirstLastPara="1" rIns="68575" wrap="square" tIns="34275">
            <a:noAutofit/>
          </a:bodyPr>
          <a:lstStyle/>
          <a:p>
            <a:pPr indent="-273050" lvl="0" marL="254000" marR="0" rtl="0" algn="l">
              <a:spcBef>
                <a:spcPts val="0"/>
              </a:spcBef>
              <a:spcAft>
                <a:spcPts val="0"/>
              </a:spcAft>
              <a:buClr>
                <a:srgbClr val="1A1A1A"/>
              </a:buClr>
              <a:buSzPts val="1500"/>
              <a:buFont typeface="Calibri"/>
              <a:buChar char="•"/>
            </a:pPr>
            <a:r>
              <a:rPr b="0" i="0" lang="en" sz="1500" u="none" cap="none" strike="noStrike">
                <a:solidFill>
                  <a:srgbClr val="1A1A1A"/>
                </a:solidFill>
                <a:latin typeface="Calibri"/>
                <a:ea typeface="Calibri"/>
                <a:cs typeface="Calibri"/>
                <a:sym typeface="Calibri"/>
              </a:rPr>
              <a:t>Generic AWQ calibration (L1g) appeared faster at p50 but triggered runaway generation in 1 of 2</a:t>
            </a:r>
            <a:r>
              <a:rPr lang="en" sz="1500">
                <a:solidFill>
                  <a:srgbClr val="1A1A1A"/>
                </a:solidFill>
                <a:latin typeface="Calibri"/>
                <a:ea typeface="Calibri"/>
                <a:cs typeface="Calibri"/>
                <a:sym typeface="Calibri"/>
              </a:rPr>
              <a:t>2</a:t>
            </a:r>
            <a:r>
              <a:rPr b="0" i="0" lang="en" sz="1500" u="none" cap="none" strike="noStrike">
                <a:solidFill>
                  <a:srgbClr val="1A1A1A"/>
                </a:solidFill>
                <a:latin typeface="Calibri"/>
                <a:ea typeface="Calibri"/>
                <a:cs typeface="Calibri"/>
                <a:sym typeface="Calibri"/>
              </a:rPr>
              <a:t> scenarios, hitting 121.8 s. Not safe for industrial deployment.</a:t>
            </a:r>
            <a:endParaRPr b="0" i="0" sz="1500" u="none" cap="none" strike="noStrike">
              <a:solidFill>
                <a:schemeClr val="dk1"/>
              </a:solidFill>
              <a:latin typeface="Calibri"/>
              <a:ea typeface="Calibri"/>
              <a:cs typeface="Calibri"/>
              <a:sym typeface="Calibri"/>
            </a:endParaRPr>
          </a:p>
          <a:p>
            <a:pPr indent="-273050" lvl="0" marL="254000" marR="0" rtl="0" algn="l">
              <a:spcBef>
                <a:spcPts val="600"/>
              </a:spcBef>
              <a:spcAft>
                <a:spcPts val="0"/>
              </a:spcAft>
              <a:buClr>
                <a:srgbClr val="1A1A1A"/>
              </a:buClr>
              <a:buSzPts val="1500"/>
              <a:buFont typeface="Calibri"/>
              <a:buChar char="•"/>
            </a:pPr>
            <a:r>
              <a:rPr b="0" i="0" lang="en" sz="1500" u="none" cap="none" strike="noStrike">
                <a:solidFill>
                  <a:srgbClr val="1A1A1A"/>
                </a:solidFill>
                <a:latin typeface="Calibri"/>
                <a:ea typeface="Calibri"/>
                <a:cs typeface="Calibri"/>
                <a:sym typeface="Calibri"/>
              </a:rPr>
              <a:t>Llama-3.2-Vision-11B required 22 GB at FP16, leaving no headroom on the 24 GB L4. We substituted Llama-3-LLaVA-NeXT-8B at roughly 16 GB instead.</a:t>
            </a:r>
            <a:endParaRPr b="0" i="0" sz="1500" u="none" cap="none" strike="noStrike">
              <a:solidFill>
                <a:schemeClr val="dk1"/>
              </a:solidFill>
              <a:latin typeface="Calibri"/>
              <a:ea typeface="Calibri"/>
              <a:cs typeface="Calibri"/>
              <a:sym typeface="Calibri"/>
            </a:endParaRPr>
          </a:p>
          <a:p>
            <a:pPr indent="-273050" lvl="0" marL="254000" marR="0" rtl="0" algn="l">
              <a:spcBef>
                <a:spcPts val="600"/>
              </a:spcBef>
              <a:spcAft>
                <a:spcPts val="0"/>
              </a:spcAft>
              <a:buClr>
                <a:srgbClr val="1A1A1A"/>
              </a:buClr>
              <a:buSzPts val="1500"/>
              <a:buFont typeface="Calibri"/>
              <a:buChar char="•"/>
            </a:pPr>
            <a:r>
              <a:rPr b="0" i="0" lang="en" sz="1500" u="none" cap="none" strike="noStrike">
                <a:solidFill>
                  <a:srgbClr val="1A1A1A"/>
                </a:solidFill>
                <a:latin typeface="Calibri"/>
                <a:ea typeface="Calibri"/>
                <a:cs typeface="Calibri"/>
                <a:sym typeface="Calibri"/>
              </a:rPr>
              <a:t>llmcompressor 0.3.0 produced fake-quant FP16 output rather than real INT4 weights. Upgrading to 0.10.0.2 with save_compressed=True was required to get actual INT4 packing.</a:t>
            </a:r>
            <a:endParaRPr b="0" i="0" sz="1500" u="none" cap="none" strike="noStrike">
              <a:solidFill>
                <a:schemeClr val="dk1"/>
              </a:solidFill>
              <a:latin typeface="Calibri"/>
              <a:ea typeface="Calibri"/>
              <a:cs typeface="Calibri"/>
              <a:sym typeface="Calibri"/>
            </a:endParaRPr>
          </a:p>
        </p:txBody>
      </p:sp>
      <p:sp>
        <p:nvSpPr>
          <p:cNvPr id="213" name="Google Shape;213;p26"/>
          <p:cNvSpPr/>
          <p:nvPr/>
        </p:nvSpPr>
        <p:spPr>
          <a:xfrm>
            <a:off x="342900" y="4903470"/>
            <a:ext cx="41148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800"/>
              <a:buFont typeface="Calibri"/>
              <a:buNone/>
            </a:pPr>
            <a:r>
              <a:rPr b="0" i="1" lang="en" sz="800" u="none" cap="none" strike="noStrike">
                <a:solidFill>
                  <a:srgbClr val="6B6F76"/>
                </a:solidFill>
                <a:latin typeface="Calibri"/>
                <a:ea typeface="Calibri"/>
                <a:cs typeface="Calibri"/>
                <a:sym typeface="Calibri"/>
              </a:rPr>
              <a:t>HPML · Spring 2026</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8" name="Shape 218"/>
        <p:cNvGrpSpPr/>
        <p:nvPr/>
      </p:nvGrpSpPr>
      <p:grpSpPr>
        <a:xfrm>
          <a:off x="0" y="0"/>
          <a:ext cx="0" cy="0"/>
          <a:chOff x="0" y="0"/>
          <a:chExt cx="0" cy="0"/>
        </a:xfrm>
      </p:grpSpPr>
      <p:sp>
        <p:nvSpPr>
          <p:cNvPr id="219" name="Google Shape;219;p27"/>
          <p:cNvSpPr/>
          <p:nvPr/>
        </p:nvSpPr>
        <p:spPr>
          <a:xfrm>
            <a:off x="342900" y="377190"/>
            <a:ext cx="8455914"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400"/>
              <a:buFont typeface="Calibri"/>
              <a:buNone/>
            </a:pPr>
            <a:r>
              <a:rPr b="1" i="0" lang="en" sz="2400" u="none" cap="none" strike="noStrike">
                <a:solidFill>
                  <a:srgbClr val="1A1A1A"/>
                </a:solidFill>
                <a:latin typeface="Calibri"/>
                <a:ea typeface="Calibri"/>
                <a:cs typeface="Calibri"/>
                <a:sym typeface="Calibri"/>
              </a:rPr>
              <a:t>Next Steps</a:t>
            </a:r>
            <a:endParaRPr b="0" i="0" sz="2400" u="none" cap="none" strike="noStrike">
              <a:solidFill>
                <a:schemeClr val="dk1"/>
              </a:solidFill>
              <a:latin typeface="Calibri"/>
              <a:ea typeface="Calibri"/>
              <a:cs typeface="Calibri"/>
              <a:sym typeface="Calibri"/>
            </a:endParaRPr>
          </a:p>
        </p:txBody>
      </p:sp>
      <p:cxnSp>
        <p:nvCxnSpPr>
          <p:cNvPr id="220" name="Google Shape;220;p27"/>
          <p:cNvCxnSpPr/>
          <p:nvPr/>
        </p:nvCxnSpPr>
        <p:spPr>
          <a:xfrm>
            <a:off x="342900" y="891540"/>
            <a:ext cx="8455914" cy="0"/>
          </a:xfrm>
          <a:prstGeom prst="straightConnector1">
            <a:avLst/>
          </a:prstGeom>
          <a:noFill/>
          <a:ln cap="flat" cmpd="sng" w="9525">
            <a:solidFill>
              <a:srgbClr val="D9D9D9"/>
            </a:solidFill>
            <a:prstDash val="solid"/>
            <a:round/>
            <a:headEnd len="sm" w="sm" type="none"/>
            <a:tailEnd len="sm" w="sm" type="none"/>
          </a:ln>
        </p:spPr>
      </p:cxnSp>
      <p:sp>
        <p:nvSpPr>
          <p:cNvPr id="221" name="Google Shape;221;p27"/>
          <p:cNvSpPr/>
          <p:nvPr/>
        </p:nvSpPr>
        <p:spPr>
          <a:xfrm>
            <a:off x="342900" y="994410"/>
            <a:ext cx="82296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800"/>
              <a:buFont typeface="Calibri"/>
              <a:buNone/>
            </a:pPr>
            <a:r>
              <a:t/>
            </a:r>
            <a:endParaRPr b="0" i="0" sz="800" u="none" cap="none" strike="noStrike">
              <a:solidFill>
                <a:schemeClr val="dk1"/>
              </a:solidFill>
              <a:latin typeface="Calibri"/>
              <a:ea typeface="Calibri"/>
              <a:cs typeface="Calibri"/>
              <a:sym typeface="Calibri"/>
            </a:endParaRPr>
          </a:p>
        </p:txBody>
      </p:sp>
      <p:sp>
        <p:nvSpPr>
          <p:cNvPr id="222" name="Google Shape;222;p27"/>
          <p:cNvSpPr/>
          <p:nvPr/>
        </p:nvSpPr>
        <p:spPr>
          <a:xfrm>
            <a:off x="342900" y="1508760"/>
            <a:ext cx="8455914" cy="2743200"/>
          </a:xfrm>
          <a:prstGeom prst="rect">
            <a:avLst/>
          </a:prstGeom>
          <a:noFill/>
          <a:ln>
            <a:noFill/>
          </a:ln>
        </p:spPr>
        <p:txBody>
          <a:bodyPr anchorCtr="0" anchor="t" bIns="34275" lIns="68575" spcFirstLastPara="1" rIns="68575" wrap="square" tIns="34275">
            <a:noAutofit/>
          </a:bodyPr>
          <a:lstStyle/>
          <a:p>
            <a:pPr indent="-317500" lvl="0" marL="457200" marR="0" rtl="0" algn="l">
              <a:spcBef>
                <a:spcPts val="0"/>
              </a:spcBef>
              <a:spcAft>
                <a:spcPts val="0"/>
              </a:spcAft>
              <a:buClr>
                <a:srgbClr val="1A1A1A"/>
              </a:buClr>
              <a:buSzPts val="1400"/>
              <a:buFont typeface="Calibri"/>
              <a:buChar char="●"/>
            </a:pPr>
            <a:r>
              <a:rPr b="0" i="0" lang="en" sz="1400" u="none" cap="none" strike="noStrike">
                <a:solidFill>
                  <a:srgbClr val="1A1A1A"/>
                </a:solidFill>
                <a:latin typeface="Calibri"/>
                <a:ea typeface="Calibri"/>
                <a:cs typeface="Calibri"/>
                <a:sym typeface="Calibri"/>
              </a:rPr>
              <a:t>Submit the PR to the upstream IBM/AssetOpsBench repo and register the Visual Inspection Agent in AgentHive so it gets dispatched through the standard MetaAgent orchestrator.</a:t>
            </a:r>
            <a:endParaRPr b="0" i="0" sz="1400" u="none" cap="none" strike="noStrike">
              <a:solidFill>
                <a:srgbClr val="1A1A1A"/>
              </a:solidFill>
              <a:latin typeface="Calibri"/>
              <a:ea typeface="Calibri"/>
              <a:cs typeface="Calibri"/>
              <a:sym typeface="Calibri"/>
            </a:endParaRPr>
          </a:p>
          <a:p>
            <a:pPr indent="-317500" lvl="0" marL="457200" marR="0" rtl="0" algn="l">
              <a:spcBef>
                <a:spcPts val="0"/>
              </a:spcBef>
              <a:spcAft>
                <a:spcPts val="0"/>
              </a:spcAft>
              <a:buClr>
                <a:srgbClr val="1A1A1A"/>
              </a:buClr>
              <a:buSzPts val="1400"/>
              <a:buFont typeface="Calibri"/>
              <a:buChar char="●"/>
            </a:pPr>
            <a:r>
              <a:rPr lang="en">
                <a:solidFill>
                  <a:srgbClr val="1A1A1A"/>
                </a:solidFill>
                <a:latin typeface="Calibri"/>
                <a:ea typeface="Calibri"/>
                <a:cs typeface="Calibri"/>
                <a:sym typeface="Calibri"/>
              </a:rPr>
              <a:t>Try running benchmarks for scenarios on GPUs with more memory (A100) to fit bigger models with higher precisions to enhance benchmarking insight.</a:t>
            </a:r>
            <a:endParaRPr>
              <a:solidFill>
                <a:srgbClr val="1A1A1A"/>
              </a:solidFill>
              <a:latin typeface="Calibri"/>
              <a:ea typeface="Calibri"/>
              <a:cs typeface="Calibri"/>
              <a:sym typeface="Calibri"/>
            </a:endParaRPr>
          </a:p>
          <a:p>
            <a:pPr indent="-317500" lvl="0" marL="457200" marR="0" rtl="0" algn="l">
              <a:spcBef>
                <a:spcPts val="0"/>
              </a:spcBef>
              <a:spcAft>
                <a:spcPts val="0"/>
              </a:spcAft>
              <a:buClr>
                <a:srgbClr val="1A1A1A"/>
              </a:buClr>
              <a:buSzPts val="1400"/>
              <a:buFont typeface="Calibri"/>
              <a:buChar char="●"/>
            </a:pPr>
            <a:r>
              <a:rPr lang="en">
                <a:solidFill>
                  <a:srgbClr val="1A1A1A"/>
                </a:solidFill>
                <a:latin typeface="Calibri"/>
                <a:ea typeface="Calibri"/>
                <a:cs typeface="Calibri"/>
                <a:sym typeface="Calibri"/>
              </a:rPr>
              <a:t>Supervised Fine-Tuning (SFT) using LoRA or QLoRA techniques and benchmarking runs for various quantization levels for accuracy, speedup, cpu/gpu utilization, etc.</a:t>
            </a:r>
            <a:endParaRPr>
              <a:solidFill>
                <a:srgbClr val="1A1A1A"/>
              </a:solidFill>
              <a:latin typeface="Calibri"/>
              <a:ea typeface="Calibri"/>
              <a:cs typeface="Calibri"/>
              <a:sym typeface="Calibri"/>
            </a:endParaRPr>
          </a:p>
          <a:p>
            <a:pPr indent="0" lvl="0" marL="0" marR="0" rtl="0" algn="l">
              <a:spcBef>
                <a:spcPts val="110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23" name="Google Shape;223;p27"/>
          <p:cNvSpPr/>
          <p:nvPr/>
        </p:nvSpPr>
        <p:spPr>
          <a:xfrm>
            <a:off x="342900" y="4903470"/>
            <a:ext cx="41148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800"/>
              <a:buFont typeface="Calibri"/>
              <a:buNone/>
            </a:pPr>
            <a:r>
              <a:rPr b="0" i="1" lang="en" sz="800" u="none" cap="none" strike="noStrike">
                <a:solidFill>
                  <a:srgbClr val="6B6F76"/>
                </a:solidFill>
                <a:latin typeface="Calibri"/>
                <a:ea typeface="Calibri"/>
                <a:cs typeface="Calibri"/>
                <a:sym typeface="Calibri"/>
              </a:rPr>
              <a:t>HPML · Spring 2026</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8" name="Shape 228"/>
        <p:cNvGrpSpPr/>
        <p:nvPr/>
      </p:nvGrpSpPr>
      <p:grpSpPr>
        <a:xfrm>
          <a:off x="0" y="0"/>
          <a:ext cx="0" cy="0"/>
          <a:chOff x="0" y="0"/>
          <a:chExt cx="0" cy="0"/>
        </a:xfrm>
      </p:grpSpPr>
      <p:sp>
        <p:nvSpPr>
          <p:cNvPr id="229" name="Google Shape;229;p28"/>
          <p:cNvSpPr/>
          <p:nvPr/>
        </p:nvSpPr>
        <p:spPr>
          <a:xfrm>
            <a:off x="342900" y="377190"/>
            <a:ext cx="8455914"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400"/>
              <a:buFont typeface="Calibri"/>
              <a:buNone/>
            </a:pPr>
            <a:r>
              <a:rPr b="1" i="0" lang="en" sz="2400" u="none" cap="none" strike="noStrike">
                <a:solidFill>
                  <a:srgbClr val="1A1A1A"/>
                </a:solidFill>
                <a:latin typeface="Calibri"/>
                <a:ea typeface="Calibri"/>
                <a:cs typeface="Calibri"/>
                <a:sym typeface="Calibri"/>
              </a:rPr>
              <a:t>Experimental Setup</a:t>
            </a:r>
            <a:endParaRPr b="0" i="0" sz="2400" u="none" cap="none" strike="noStrike">
              <a:solidFill>
                <a:schemeClr val="dk1"/>
              </a:solidFill>
              <a:latin typeface="Calibri"/>
              <a:ea typeface="Calibri"/>
              <a:cs typeface="Calibri"/>
              <a:sym typeface="Calibri"/>
            </a:endParaRPr>
          </a:p>
        </p:txBody>
      </p:sp>
      <p:cxnSp>
        <p:nvCxnSpPr>
          <p:cNvPr id="230" name="Google Shape;230;p28"/>
          <p:cNvCxnSpPr/>
          <p:nvPr/>
        </p:nvCxnSpPr>
        <p:spPr>
          <a:xfrm>
            <a:off x="342900" y="891540"/>
            <a:ext cx="8455914" cy="0"/>
          </a:xfrm>
          <a:prstGeom prst="straightConnector1">
            <a:avLst/>
          </a:prstGeom>
          <a:noFill/>
          <a:ln cap="flat" cmpd="sng" w="9525">
            <a:solidFill>
              <a:srgbClr val="D9D9D9"/>
            </a:solidFill>
            <a:prstDash val="solid"/>
            <a:round/>
            <a:headEnd len="sm" w="sm" type="none"/>
            <a:tailEnd len="sm" w="sm" type="none"/>
          </a:ln>
        </p:spPr>
      </p:cxnSp>
      <p:sp>
        <p:nvSpPr>
          <p:cNvPr id="231" name="Google Shape;231;p28"/>
          <p:cNvSpPr/>
          <p:nvPr/>
        </p:nvSpPr>
        <p:spPr>
          <a:xfrm>
            <a:off x="342900" y="994410"/>
            <a:ext cx="82296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800"/>
              <a:buFont typeface="Calibri"/>
              <a:buNone/>
            </a:pPr>
            <a:r>
              <a:t/>
            </a:r>
            <a:endParaRPr b="0" i="0" sz="800" u="none" cap="none" strike="noStrike">
              <a:solidFill>
                <a:schemeClr val="dk1"/>
              </a:solidFill>
              <a:latin typeface="Calibri"/>
              <a:ea typeface="Calibri"/>
              <a:cs typeface="Calibri"/>
              <a:sym typeface="Calibri"/>
            </a:endParaRPr>
          </a:p>
        </p:txBody>
      </p:sp>
      <p:graphicFrame>
        <p:nvGraphicFramePr>
          <p:cNvPr id="232" name="Google Shape;232;p28"/>
          <p:cNvGraphicFramePr/>
          <p:nvPr/>
        </p:nvGraphicFramePr>
        <p:xfrm>
          <a:off x="342900" y="1371600"/>
          <a:ext cx="3000000" cy="3000000"/>
        </p:xfrm>
        <a:graphic>
          <a:graphicData uri="http://schemas.openxmlformats.org/drawingml/2006/table">
            <a:tbl>
              <a:tblPr>
                <a:noFill/>
                <a:tableStyleId>{8F6EB3F7-00B9-48F1-BA0E-6511EF26576A}</a:tableStyleId>
              </a:tblPr>
              <a:tblGrid>
                <a:gridCol w="2400300"/>
                <a:gridCol w="3017500"/>
                <a:gridCol w="3038100"/>
              </a:tblGrid>
              <a:tr h="308600">
                <a:tc>
                  <a:txBody>
                    <a:bodyPr/>
                    <a:lstStyle/>
                    <a:p>
                      <a:pPr indent="0" lvl="0" marL="0" marR="0" rtl="0" algn="l">
                        <a:spcBef>
                          <a:spcPts val="0"/>
                        </a:spcBef>
                        <a:spcAft>
                          <a:spcPts val="0"/>
                        </a:spcAft>
                        <a:buClr>
                          <a:srgbClr val="1A1A1A"/>
                        </a:buClr>
                        <a:buSzPts val="1000"/>
                        <a:buFont typeface="Calibri"/>
                        <a:buNone/>
                      </a:pPr>
                      <a:r>
                        <a:rPr b="1" lang="en" sz="1300" u="none" cap="none" strike="noStrike">
                          <a:solidFill>
                            <a:srgbClr val="1A1A1A"/>
                          </a:solidFill>
                          <a:latin typeface="Calibri"/>
                          <a:ea typeface="Calibri"/>
                          <a:cs typeface="Calibri"/>
                          <a:sym typeface="Calibri"/>
                        </a:rPr>
                        <a:t>Setting</a:t>
                      </a:r>
                      <a:endParaRPr sz="1300" u="none" cap="none" strike="noStrike">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Clr>
                          <a:srgbClr val="1A1A1A"/>
                        </a:buClr>
                        <a:buSzPts val="1000"/>
                        <a:buFont typeface="Calibri"/>
                        <a:buNone/>
                      </a:pPr>
                      <a:r>
                        <a:rPr b="1" lang="en" sz="1300" u="none" cap="none" strike="noStrike">
                          <a:solidFill>
                            <a:srgbClr val="1A1A1A"/>
                          </a:solidFill>
                          <a:latin typeface="Calibri"/>
                          <a:ea typeface="Calibri"/>
                          <a:cs typeface="Calibri"/>
                          <a:sym typeface="Calibri"/>
                        </a:rPr>
                        <a:t>Baseline</a:t>
                      </a:r>
                      <a:endParaRPr sz="1300" u="none" cap="none" strike="noStrike">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Clr>
                          <a:srgbClr val="1A1A1A"/>
                        </a:buClr>
                        <a:buSzPts val="1000"/>
                        <a:buFont typeface="Calibri"/>
                        <a:buNone/>
                      </a:pPr>
                      <a:r>
                        <a:rPr b="1" lang="en" sz="1300" u="none" cap="none" strike="noStrike">
                          <a:solidFill>
                            <a:srgbClr val="1A1A1A"/>
                          </a:solidFill>
                          <a:latin typeface="Calibri"/>
                          <a:ea typeface="Calibri"/>
                          <a:cs typeface="Calibri"/>
                          <a:sym typeface="Calibri"/>
                        </a:rPr>
                        <a:t>Optimized</a:t>
                      </a:r>
                      <a:endParaRPr sz="1300" u="none" cap="none" strike="noStrike">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2F2F2"/>
                    </a:solidFill>
                  </a:tcPr>
                </a:tc>
              </a:tr>
              <a:tr h="308600">
                <a:tc>
                  <a:txBody>
                    <a:bodyPr/>
                    <a:lstStyle/>
                    <a:p>
                      <a:pPr indent="0" lvl="0" marL="0" marR="0" rtl="0" algn="l">
                        <a:spcBef>
                          <a:spcPts val="0"/>
                        </a:spcBef>
                        <a:spcAft>
                          <a:spcPts val="0"/>
                        </a:spcAft>
                        <a:buClr>
                          <a:srgbClr val="1A1A1A"/>
                        </a:buClr>
                        <a:buSzPts val="900"/>
                        <a:buFont typeface="Calibri"/>
                        <a:buNone/>
                      </a:pPr>
                      <a:r>
                        <a:rPr lang="en" sz="1200" u="none" cap="none" strike="noStrike">
                          <a:solidFill>
                            <a:srgbClr val="1A1A1A"/>
                          </a:solidFill>
                          <a:latin typeface="Calibri"/>
                          <a:ea typeface="Calibri"/>
                          <a:cs typeface="Calibri"/>
                          <a:sym typeface="Calibri"/>
                        </a:rPr>
                        <a:t>Batch size</a:t>
                      </a:r>
                      <a:endParaRPr sz="1200" u="none" cap="none" strike="noStrike">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900"/>
                        <a:buFont typeface="Calibri"/>
                        <a:buNone/>
                      </a:pPr>
                      <a:r>
                        <a:rPr lang="en" sz="1200" u="none" cap="none" strike="noStrike">
                          <a:solidFill>
                            <a:srgbClr val="1A1A1A"/>
                          </a:solidFill>
                          <a:latin typeface="Calibri"/>
                          <a:ea typeface="Calibri"/>
                          <a:cs typeface="Calibri"/>
                          <a:sym typeface="Calibri"/>
                        </a:rPr>
                        <a:t>1 (single image per request)</a:t>
                      </a:r>
                      <a:endParaRPr sz="1200" u="none" cap="none" strike="noStrike">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900"/>
                        <a:buFont typeface="Calibri"/>
                        <a:buNone/>
                      </a:pPr>
                      <a:r>
                        <a:rPr lang="en" sz="1200" u="none" cap="none" strike="noStrike">
                          <a:solidFill>
                            <a:srgbClr val="1A1A1A"/>
                          </a:solidFill>
                          <a:latin typeface="Calibri"/>
                          <a:ea typeface="Calibri"/>
                          <a:cs typeface="Calibri"/>
                          <a:sym typeface="Calibri"/>
                        </a:rPr>
                        <a:t>1 (unchanged)</a:t>
                      </a:r>
                      <a:endParaRPr sz="1200" u="none" cap="none" strike="noStrike">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308600">
                <a:tc>
                  <a:txBody>
                    <a:bodyPr/>
                    <a:lstStyle/>
                    <a:p>
                      <a:pPr indent="0" lvl="0" marL="0" marR="0" rtl="0" algn="l">
                        <a:spcBef>
                          <a:spcPts val="0"/>
                        </a:spcBef>
                        <a:spcAft>
                          <a:spcPts val="0"/>
                        </a:spcAft>
                        <a:buClr>
                          <a:srgbClr val="1A1A1A"/>
                        </a:buClr>
                        <a:buSzPts val="900"/>
                        <a:buFont typeface="Calibri"/>
                        <a:buNone/>
                      </a:pPr>
                      <a:r>
                        <a:rPr lang="en" sz="1200" u="none" cap="none" strike="noStrike">
                          <a:solidFill>
                            <a:srgbClr val="1A1A1A"/>
                          </a:solidFill>
                          <a:latin typeface="Calibri"/>
                          <a:ea typeface="Calibri"/>
                          <a:cs typeface="Calibri"/>
                          <a:sym typeface="Calibri"/>
                        </a:rPr>
                        <a:t>Precision</a:t>
                      </a:r>
                      <a:endParaRPr sz="1200" u="none" cap="none" strike="noStrike">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900"/>
                        <a:buFont typeface="Calibri"/>
                        <a:buNone/>
                      </a:pPr>
                      <a:r>
                        <a:rPr lang="en" sz="1200" u="none" cap="none" strike="noStrike">
                          <a:solidFill>
                            <a:srgbClr val="1A1A1A"/>
                          </a:solidFill>
                          <a:latin typeface="Calibri"/>
                          <a:ea typeface="Calibri"/>
                          <a:cs typeface="Calibri"/>
                          <a:sym typeface="Calibri"/>
                        </a:rPr>
                        <a:t>FP16 (weights + activations)</a:t>
                      </a:r>
                      <a:endParaRPr sz="1200" u="none" cap="none" strike="noStrike">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900"/>
                        <a:buFont typeface="Calibri"/>
                        <a:buNone/>
                      </a:pPr>
                      <a:r>
                        <a:rPr lang="en" sz="1200" u="none" cap="none" strike="noStrike">
                          <a:solidFill>
                            <a:srgbClr val="1A1A1A"/>
                          </a:solidFill>
                          <a:latin typeface="Calibri"/>
                          <a:ea typeface="Calibri"/>
                          <a:cs typeface="Calibri"/>
                          <a:sym typeface="Calibri"/>
                        </a:rPr>
                        <a:t>INT4 weights (AWQ W4A16), FP16 activations</a:t>
                      </a:r>
                      <a:endParaRPr sz="1200" u="none" cap="none" strike="noStrike">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308600">
                <a:tc>
                  <a:txBody>
                    <a:bodyPr/>
                    <a:lstStyle/>
                    <a:p>
                      <a:pPr indent="0" lvl="0" marL="0" marR="0" rtl="0" algn="l">
                        <a:spcBef>
                          <a:spcPts val="0"/>
                        </a:spcBef>
                        <a:spcAft>
                          <a:spcPts val="0"/>
                        </a:spcAft>
                        <a:buClr>
                          <a:srgbClr val="1A1A1A"/>
                        </a:buClr>
                        <a:buSzPts val="900"/>
                        <a:buFont typeface="Calibri"/>
                        <a:buNone/>
                      </a:pPr>
                      <a:r>
                        <a:rPr lang="en" sz="1200" u="none" cap="none" strike="noStrike">
                          <a:solidFill>
                            <a:srgbClr val="1A1A1A"/>
                          </a:solidFill>
                          <a:latin typeface="Calibri"/>
                          <a:ea typeface="Calibri"/>
                          <a:cs typeface="Calibri"/>
                          <a:sym typeface="Calibri"/>
                        </a:rPr>
                        <a:t>Learning rate</a:t>
                      </a:r>
                      <a:endParaRPr sz="1200" u="none" cap="none" strike="noStrike">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900"/>
                        <a:buFont typeface="Calibri"/>
                        <a:buNone/>
                      </a:pPr>
                      <a:r>
                        <a:rPr lang="en" sz="1200" u="none" cap="none" strike="noStrike">
                          <a:solidFill>
                            <a:srgbClr val="1A1A1A"/>
                          </a:solidFill>
                          <a:latin typeface="Calibri"/>
                          <a:ea typeface="Calibri"/>
                          <a:cs typeface="Calibri"/>
                          <a:sym typeface="Calibri"/>
                        </a:rPr>
                        <a:t>N/A (inference only)</a:t>
                      </a:r>
                      <a:endParaRPr sz="1200" u="none" cap="none" strike="noStrike">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900"/>
                        <a:buFont typeface="Calibri"/>
                        <a:buNone/>
                      </a:pPr>
                      <a:r>
                        <a:rPr lang="en" sz="1200" u="none" cap="none" strike="noStrike">
                          <a:solidFill>
                            <a:srgbClr val="1A1A1A"/>
                          </a:solidFill>
                          <a:latin typeface="Calibri"/>
                          <a:ea typeface="Calibri"/>
                          <a:cs typeface="Calibri"/>
                          <a:sym typeface="Calibri"/>
                        </a:rPr>
                        <a:t>N/A (inference only)</a:t>
                      </a:r>
                      <a:endParaRPr sz="1200" u="none" cap="none" strike="noStrike">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308600">
                <a:tc>
                  <a:txBody>
                    <a:bodyPr/>
                    <a:lstStyle/>
                    <a:p>
                      <a:pPr indent="0" lvl="0" marL="0" marR="0" rtl="0" algn="l">
                        <a:spcBef>
                          <a:spcPts val="0"/>
                        </a:spcBef>
                        <a:spcAft>
                          <a:spcPts val="0"/>
                        </a:spcAft>
                        <a:buClr>
                          <a:srgbClr val="1A1A1A"/>
                        </a:buClr>
                        <a:buSzPts val="900"/>
                        <a:buFont typeface="Calibri"/>
                        <a:buNone/>
                      </a:pPr>
                      <a:r>
                        <a:rPr lang="en" sz="1200" u="none" cap="none" strike="noStrike">
                          <a:solidFill>
                            <a:srgbClr val="1A1A1A"/>
                          </a:solidFill>
                          <a:latin typeface="Calibri"/>
                          <a:ea typeface="Calibri"/>
                          <a:cs typeface="Calibri"/>
                          <a:sym typeface="Calibri"/>
                        </a:rPr>
                        <a:t>Sequence length</a:t>
                      </a:r>
                      <a:endParaRPr sz="1200" u="none" cap="none" strike="noStrike">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900"/>
                        <a:buFont typeface="Calibri"/>
                        <a:buNone/>
                      </a:pPr>
                      <a:r>
                        <a:rPr lang="en" sz="1200" u="none" cap="none" strike="noStrike">
                          <a:solidFill>
                            <a:srgbClr val="1A1A1A"/>
                          </a:solidFill>
                          <a:latin typeface="Calibri"/>
                          <a:ea typeface="Calibri"/>
                          <a:cs typeface="Calibri"/>
                          <a:sym typeface="Calibri"/>
                        </a:rPr>
                        <a:t>Variable (image-dependent)</a:t>
                      </a:r>
                      <a:endParaRPr sz="1200" u="none" cap="none" strike="noStrike">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900"/>
                        <a:buFont typeface="Calibri"/>
                        <a:buNone/>
                      </a:pPr>
                      <a:r>
                        <a:rPr lang="en" sz="1200" u="none" cap="none" strike="noStrike">
                          <a:solidFill>
                            <a:srgbClr val="1A1A1A"/>
                          </a:solidFill>
                          <a:latin typeface="Calibri"/>
                          <a:ea typeface="Calibri"/>
                          <a:cs typeface="Calibri"/>
                          <a:sym typeface="Calibri"/>
                        </a:rPr>
                        <a:t>Variable (same)</a:t>
                      </a:r>
                      <a:endParaRPr sz="1200" u="none" cap="none" strike="noStrike">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308600">
                <a:tc>
                  <a:txBody>
                    <a:bodyPr/>
                    <a:lstStyle/>
                    <a:p>
                      <a:pPr indent="0" lvl="0" marL="0" marR="0" rtl="0" algn="l">
                        <a:spcBef>
                          <a:spcPts val="0"/>
                        </a:spcBef>
                        <a:spcAft>
                          <a:spcPts val="0"/>
                        </a:spcAft>
                        <a:buClr>
                          <a:srgbClr val="1A1A1A"/>
                        </a:buClr>
                        <a:buSzPts val="900"/>
                        <a:buFont typeface="Calibri"/>
                        <a:buNone/>
                      </a:pPr>
                      <a:r>
                        <a:rPr lang="en" sz="1200" u="none" cap="none" strike="noStrike">
                          <a:solidFill>
                            <a:srgbClr val="1A1A1A"/>
                          </a:solidFill>
                          <a:latin typeface="Calibri"/>
                          <a:ea typeface="Calibri"/>
                          <a:cs typeface="Calibri"/>
                          <a:sym typeface="Calibri"/>
                        </a:rPr>
                        <a:t>Epochs / steps</a:t>
                      </a:r>
                      <a:endParaRPr sz="1200" u="none" cap="none" strike="noStrike">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900"/>
                        <a:buFont typeface="Calibri"/>
                        <a:buNone/>
                      </a:pPr>
                      <a:r>
                        <a:rPr lang="en" sz="1200" u="none" cap="none" strike="noStrike">
                          <a:solidFill>
                            <a:srgbClr val="1A1A1A"/>
                          </a:solidFill>
                          <a:latin typeface="Calibri"/>
                          <a:ea typeface="Calibri"/>
                          <a:cs typeface="Calibri"/>
                          <a:sym typeface="Calibri"/>
                        </a:rPr>
                        <a:t>16 scenarios per variant, 10 variants</a:t>
                      </a:r>
                      <a:endParaRPr sz="1200" u="none" cap="none" strike="noStrike">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900"/>
                        <a:buFont typeface="Calibri"/>
                        <a:buNone/>
                      </a:pPr>
                      <a:r>
                        <a:rPr lang="en" sz="1200" u="none" cap="none" strike="noStrike">
                          <a:solidFill>
                            <a:srgbClr val="1A1A1A"/>
                          </a:solidFill>
                          <a:latin typeface="Calibri"/>
                          <a:ea typeface="Calibri"/>
                          <a:cs typeface="Calibri"/>
                          <a:sym typeface="Calibri"/>
                        </a:rPr>
                        <a:t>16 scenarios per variant, 10 variants</a:t>
                      </a:r>
                      <a:endParaRPr sz="1200" u="none" cap="none" strike="noStrike">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308600">
                <a:tc>
                  <a:txBody>
                    <a:bodyPr/>
                    <a:lstStyle/>
                    <a:p>
                      <a:pPr indent="0" lvl="0" marL="0" marR="0" rtl="0" algn="l">
                        <a:spcBef>
                          <a:spcPts val="0"/>
                        </a:spcBef>
                        <a:spcAft>
                          <a:spcPts val="0"/>
                        </a:spcAft>
                        <a:buClr>
                          <a:srgbClr val="1A1A1A"/>
                        </a:buClr>
                        <a:buSzPts val="900"/>
                        <a:buFont typeface="Calibri"/>
                        <a:buNone/>
                      </a:pPr>
                      <a:r>
                        <a:rPr lang="en" sz="1200" u="none" cap="none" strike="noStrike">
                          <a:solidFill>
                            <a:srgbClr val="1A1A1A"/>
                          </a:solidFill>
                          <a:latin typeface="Calibri"/>
                          <a:ea typeface="Calibri"/>
                          <a:cs typeface="Calibri"/>
                          <a:sym typeface="Calibri"/>
                        </a:rPr>
                        <a:t>Hardware</a:t>
                      </a:r>
                      <a:endParaRPr sz="1200" u="none" cap="none" strike="noStrike">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900"/>
                        <a:buFont typeface="Calibri"/>
                        <a:buNone/>
                      </a:pPr>
                      <a:r>
                        <a:rPr lang="en" sz="1200" u="none" cap="none" strike="noStrike">
                          <a:solidFill>
                            <a:srgbClr val="1A1A1A"/>
                          </a:solidFill>
                          <a:latin typeface="Calibri"/>
                          <a:ea typeface="Calibri"/>
                          <a:cs typeface="Calibri"/>
                          <a:sym typeface="Calibri"/>
                        </a:rPr>
                        <a:t>1× NVIDIA L4 24 GB</a:t>
                      </a:r>
                      <a:endParaRPr sz="1200" u="none" cap="none" strike="noStrike">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900"/>
                        <a:buFont typeface="Calibri"/>
                        <a:buNone/>
                      </a:pPr>
                      <a:r>
                        <a:rPr lang="en" sz="1200" u="none" cap="none" strike="noStrike">
                          <a:solidFill>
                            <a:srgbClr val="1A1A1A"/>
                          </a:solidFill>
                          <a:latin typeface="Calibri"/>
                          <a:ea typeface="Calibri"/>
                          <a:cs typeface="Calibri"/>
                          <a:sym typeface="Calibri"/>
                        </a:rPr>
                        <a:t>1× NVIDIA L4 24 GB</a:t>
                      </a:r>
                      <a:endParaRPr sz="1200" u="none" cap="none" strike="noStrike">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308600">
                <a:tc>
                  <a:txBody>
                    <a:bodyPr/>
                    <a:lstStyle/>
                    <a:p>
                      <a:pPr indent="0" lvl="0" marL="0" marR="0" rtl="0" algn="l">
                        <a:spcBef>
                          <a:spcPts val="0"/>
                        </a:spcBef>
                        <a:spcAft>
                          <a:spcPts val="0"/>
                        </a:spcAft>
                        <a:buClr>
                          <a:srgbClr val="1A1A1A"/>
                        </a:buClr>
                        <a:buSzPts val="900"/>
                        <a:buFont typeface="Calibri"/>
                        <a:buNone/>
                      </a:pPr>
                      <a:r>
                        <a:rPr lang="en" sz="1200" u="none" cap="none" strike="noStrike">
                          <a:solidFill>
                            <a:srgbClr val="1A1A1A"/>
                          </a:solidFill>
                          <a:latin typeface="Calibri"/>
                          <a:ea typeface="Calibri"/>
                          <a:cs typeface="Calibri"/>
                          <a:sym typeface="Calibri"/>
                        </a:rPr>
                        <a:t>Software stack</a:t>
                      </a:r>
                      <a:endParaRPr sz="1200" u="none" cap="none" strike="noStrike">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900"/>
                        <a:buFont typeface="Calibri"/>
                        <a:buNone/>
                      </a:pPr>
                      <a:r>
                        <a:rPr lang="en" sz="1200" u="none" cap="none" strike="noStrike">
                          <a:solidFill>
                            <a:srgbClr val="1A1A1A"/>
                          </a:solidFill>
                          <a:latin typeface="Calibri"/>
                          <a:ea typeface="Calibri"/>
                          <a:cs typeface="Calibri"/>
                          <a:sym typeface="Calibri"/>
                        </a:rPr>
                        <a:t>vLLM 0.19.0, PyTorch, transformers 4.57</a:t>
                      </a:r>
                      <a:endParaRPr sz="1200" u="none" cap="none" strike="noStrike">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900"/>
                        <a:buFont typeface="Calibri"/>
                        <a:buNone/>
                      </a:pPr>
                      <a:r>
                        <a:rPr lang="en" sz="1200" u="none" cap="none" strike="noStrike">
                          <a:solidFill>
                            <a:srgbClr val="1A1A1A"/>
                          </a:solidFill>
                          <a:latin typeface="Calibri"/>
                          <a:ea typeface="Calibri"/>
                          <a:cs typeface="Calibri"/>
                          <a:sym typeface="Calibri"/>
                        </a:rPr>
                        <a:t>llmcompressor 0.10.0.2, compressed-tensors</a:t>
                      </a:r>
                      <a:endParaRPr sz="1200" u="none" cap="none" strike="noStrike">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bl>
          </a:graphicData>
        </a:graphic>
      </p:graphicFrame>
      <p:sp>
        <p:nvSpPr>
          <p:cNvPr id="233" name="Google Shape;233;p28"/>
          <p:cNvSpPr/>
          <p:nvPr/>
        </p:nvSpPr>
        <p:spPr>
          <a:xfrm>
            <a:off x="342900" y="4903470"/>
            <a:ext cx="41148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800"/>
              <a:buFont typeface="Calibri"/>
              <a:buNone/>
            </a:pPr>
            <a:r>
              <a:rPr b="0" i="1" lang="en" sz="800" u="none" cap="none" strike="noStrike">
                <a:solidFill>
                  <a:srgbClr val="6B6F76"/>
                </a:solidFill>
                <a:latin typeface="Calibri"/>
                <a:ea typeface="Calibri"/>
                <a:cs typeface="Calibri"/>
                <a:sym typeface="Calibri"/>
              </a:rPr>
              <a:t>HPML · Spring 2026</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8" name="Shape 238"/>
        <p:cNvGrpSpPr/>
        <p:nvPr/>
      </p:nvGrpSpPr>
      <p:grpSpPr>
        <a:xfrm>
          <a:off x="0" y="0"/>
          <a:ext cx="0" cy="0"/>
          <a:chOff x="0" y="0"/>
          <a:chExt cx="0" cy="0"/>
        </a:xfrm>
      </p:grpSpPr>
      <p:sp>
        <p:nvSpPr>
          <p:cNvPr id="239" name="Google Shape;239;p29"/>
          <p:cNvSpPr/>
          <p:nvPr/>
        </p:nvSpPr>
        <p:spPr>
          <a:xfrm>
            <a:off x="342900" y="377190"/>
            <a:ext cx="8455914"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400"/>
              <a:buFont typeface="Calibri"/>
              <a:buNone/>
            </a:pPr>
            <a:r>
              <a:rPr b="1" i="0" lang="en" sz="2400" u="none" cap="none" strike="noStrike">
                <a:solidFill>
                  <a:srgbClr val="1A1A1A"/>
                </a:solidFill>
                <a:latin typeface="Calibri"/>
                <a:ea typeface="Calibri"/>
                <a:cs typeface="Calibri"/>
                <a:sym typeface="Calibri"/>
              </a:rPr>
              <a:t>Teamwork &amp; Contributions</a:t>
            </a:r>
            <a:endParaRPr b="0" i="0" sz="2400" u="none" cap="none" strike="noStrike">
              <a:solidFill>
                <a:schemeClr val="dk1"/>
              </a:solidFill>
              <a:latin typeface="Calibri"/>
              <a:ea typeface="Calibri"/>
              <a:cs typeface="Calibri"/>
              <a:sym typeface="Calibri"/>
            </a:endParaRPr>
          </a:p>
        </p:txBody>
      </p:sp>
      <p:cxnSp>
        <p:nvCxnSpPr>
          <p:cNvPr id="240" name="Google Shape;240;p29"/>
          <p:cNvCxnSpPr/>
          <p:nvPr/>
        </p:nvCxnSpPr>
        <p:spPr>
          <a:xfrm>
            <a:off x="342900" y="891540"/>
            <a:ext cx="8455914" cy="0"/>
          </a:xfrm>
          <a:prstGeom prst="straightConnector1">
            <a:avLst/>
          </a:prstGeom>
          <a:noFill/>
          <a:ln cap="flat" cmpd="sng" w="9525">
            <a:solidFill>
              <a:srgbClr val="D9D9D9"/>
            </a:solidFill>
            <a:prstDash val="solid"/>
            <a:round/>
            <a:headEnd len="sm" w="sm" type="none"/>
            <a:tailEnd len="sm" w="sm" type="none"/>
          </a:ln>
        </p:spPr>
      </p:cxnSp>
      <p:sp>
        <p:nvSpPr>
          <p:cNvPr id="241" name="Google Shape;241;p29"/>
          <p:cNvSpPr/>
          <p:nvPr/>
        </p:nvSpPr>
        <p:spPr>
          <a:xfrm>
            <a:off x="342900" y="994410"/>
            <a:ext cx="82296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800"/>
              <a:buFont typeface="Calibri"/>
              <a:buNone/>
            </a:pPr>
            <a:r>
              <a:t/>
            </a:r>
            <a:endParaRPr b="0" i="0" sz="800" u="none" cap="none" strike="noStrike">
              <a:solidFill>
                <a:schemeClr val="dk1"/>
              </a:solidFill>
              <a:latin typeface="Calibri"/>
              <a:ea typeface="Calibri"/>
              <a:cs typeface="Calibri"/>
              <a:sym typeface="Calibri"/>
            </a:endParaRPr>
          </a:p>
        </p:txBody>
      </p:sp>
      <p:graphicFrame>
        <p:nvGraphicFramePr>
          <p:cNvPr id="242" name="Google Shape;242;p29"/>
          <p:cNvGraphicFramePr/>
          <p:nvPr/>
        </p:nvGraphicFramePr>
        <p:xfrm>
          <a:off x="297500" y="994400"/>
          <a:ext cx="3000000" cy="3000000"/>
        </p:xfrm>
        <a:graphic>
          <a:graphicData uri="http://schemas.openxmlformats.org/drawingml/2006/table">
            <a:tbl>
              <a:tblPr>
                <a:noFill/>
                <a:tableStyleId>{8F6EB3F7-00B9-48F1-BA0E-6511EF26576A}</a:tableStyleId>
              </a:tblPr>
              <a:tblGrid>
                <a:gridCol w="1508750"/>
                <a:gridCol w="3771900"/>
                <a:gridCol w="3175250"/>
              </a:tblGrid>
              <a:tr h="595575">
                <a:tc>
                  <a:txBody>
                    <a:bodyPr/>
                    <a:lstStyle/>
                    <a:p>
                      <a:pPr indent="0" lvl="0" marL="0" marR="0" rtl="0" algn="l">
                        <a:spcBef>
                          <a:spcPts val="0"/>
                        </a:spcBef>
                        <a:spcAft>
                          <a:spcPts val="0"/>
                        </a:spcAft>
                        <a:buClr>
                          <a:srgbClr val="1A1A1A"/>
                        </a:buClr>
                        <a:buSzPts val="1000"/>
                        <a:buFont typeface="Calibri"/>
                        <a:buNone/>
                      </a:pPr>
                      <a:r>
                        <a:rPr b="1" lang="en" sz="1000" u="none" cap="none" strike="noStrike">
                          <a:solidFill>
                            <a:srgbClr val="1A1A1A"/>
                          </a:solidFill>
                          <a:latin typeface="Calibri"/>
                          <a:ea typeface="Calibri"/>
                          <a:cs typeface="Calibri"/>
                          <a:sym typeface="Calibri"/>
                        </a:rPr>
                        <a:t>Member</a:t>
                      </a:r>
                      <a:endParaRPr sz="1000" u="none" cap="none" strike="noStrike">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Clr>
                          <a:srgbClr val="1A1A1A"/>
                        </a:buClr>
                        <a:buSzPts val="1000"/>
                        <a:buFont typeface="Calibri"/>
                        <a:buNone/>
                      </a:pPr>
                      <a:r>
                        <a:rPr b="1" lang="en" sz="1000" u="none" cap="none" strike="noStrike">
                          <a:solidFill>
                            <a:srgbClr val="1A1A1A"/>
                          </a:solidFill>
                          <a:latin typeface="Calibri"/>
                          <a:ea typeface="Calibri"/>
                          <a:cs typeface="Calibri"/>
                          <a:sym typeface="Calibri"/>
                        </a:rPr>
                        <a:t>Primary contributions</a:t>
                      </a:r>
                      <a:endParaRPr sz="1000" u="none" cap="none" strike="noStrike">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Clr>
                          <a:srgbClr val="1A1A1A"/>
                        </a:buClr>
                        <a:buSzPts val="1000"/>
                        <a:buFont typeface="Calibri"/>
                        <a:buNone/>
                      </a:pPr>
                      <a:r>
                        <a:rPr b="1" lang="en" sz="1000" u="none" cap="none" strike="noStrike">
                          <a:solidFill>
                            <a:srgbClr val="1A1A1A"/>
                          </a:solidFill>
                          <a:latin typeface="Calibri"/>
                          <a:ea typeface="Calibri"/>
                          <a:cs typeface="Calibri"/>
                          <a:sym typeface="Calibri"/>
                        </a:rPr>
                        <a:t>Tools / artifacts</a:t>
                      </a:r>
                      <a:endParaRPr sz="1000" u="none" cap="none" strike="noStrike">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2F2F2"/>
                    </a:solidFill>
                  </a:tcPr>
                </a:tc>
              </a:tr>
              <a:tr h="1629250">
                <a:tc>
                  <a:txBody>
                    <a:bodyPr/>
                    <a:lstStyle/>
                    <a:p>
                      <a:pPr indent="0" lvl="0" marL="0" marR="0" rtl="0" algn="l">
                        <a:spcBef>
                          <a:spcPts val="0"/>
                        </a:spcBef>
                        <a:spcAft>
                          <a:spcPts val="0"/>
                        </a:spcAft>
                        <a:buClr>
                          <a:srgbClr val="1A1A1A"/>
                        </a:buClr>
                        <a:buSzPts val="900"/>
                        <a:buFont typeface="Calibri"/>
                        <a:buNone/>
                      </a:pPr>
                      <a:r>
                        <a:rPr lang="en" sz="900" u="none" cap="none" strike="noStrike">
                          <a:solidFill>
                            <a:srgbClr val="1A1A1A"/>
                          </a:solidFill>
                          <a:latin typeface="Calibri"/>
                          <a:ea typeface="Calibri"/>
                          <a:cs typeface="Calibri"/>
                          <a:sym typeface="Calibri"/>
                        </a:rPr>
                        <a:t>Amaan Sheikh (aas2438)</a:t>
                      </a:r>
                      <a:endParaRPr sz="900" u="none" cap="none" strike="noStrike">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latin typeface="Calibri"/>
                          <a:ea typeface="Calibri"/>
                          <a:cs typeface="Calibri"/>
                          <a:sym typeface="Calibri"/>
                        </a:rPr>
                        <a:t>Qwen benchmarking and quantization, pump scenarios/data, ReAct agent, LiteLLM backend, VLM benchmark flow, LLM judge replacement, sweep automation (overnight run), plots/metrics cleanup, README, vision MCP server tests</a:t>
                      </a:r>
                      <a:endParaRPr>
                        <a:latin typeface="Calibri"/>
                        <a:ea typeface="Calibri"/>
                        <a:cs typeface="Calibri"/>
                        <a:sym typeface="Calibri"/>
                      </a:endParaRPr>
                    </a:p>
                    <a:p>
                      <a:pPr indent="0" lvl="0" marL="0" marR="0" rtl="0" algn="l">
                        <a:spcBef>
                          <a:spcPts val="0"/>
                        </a:spcBef>
                        <a:spcAft>
                          <a:spcPts val="0"/>
                        </a:spcAft>
                        <a:buClr>
                          <a:srgbClr val="1A1A1A"/>
                        </a:buClr>
                        <a:buSzPts val="900"/>
                        <a:buFont typeface="Calibri"/>
                        <a:buNone/>
                      </a:pPr>
                      <a:r>
                        <a:t/>
                      </a:r>
                      <a:endParaRPr>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900">
                          <a:latin typeface="Calibri"/>
                          <a:ea typeface="Calibri"/>
                          <a:cs typeface="Calibri"/>
                          <a:sym typeface="Calibri"/>
                        </a:rPr>
                        <a:t>benchmark/run_vlm_benchmark.py, benchmark/llm_judge.py, benchmark/calibration.py, benchmark/hpml_metrics.py, benchmark/plots.py, benchmark/concurrent_load.py, benchmark/wandb_logger.py, benchmark/variants/L0_baseline.py, L1_awq_*, L2_*, scripts/autoawq_quantize.py, scripts/quantize_awq_domain.py, scripts/quantize_w8a8_domain.py, scripts/quantize_qwen_v010.py, scripts/serve_vllm.sh, scripts/run_full_bench.sh, scripts/overnight.sh, scripts/clean_results.py, src/agent/react/*, src/llm/litellm.py, src/servers/vision/main.py, src/servers/vision/tests/test_tools.py, src/scenarios/local/vision_pump_scenarios.json, data/pumps/*,</a:t>
                      </a:r>
                      <a:endParaRPr sz="900">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935975">
                <a:tc>
                  <a:txBody>
                    <a:bodyPr/>
                    <a:lstStyle/>
                    <a:p>
                      <a:pPr indent="0" lvl="0" marL="0" marR="0" rtl="0" algn="l">
                        <a:spcBef>
                          <a:spcPts val="0"/>
                        </a:spcBef>
                        <a:spcAft>
                          <a:spcPts val="0"/>
                        </a:spcAft>
                        <a:buClr>
                          <a:srgbClr val="1A1A1A"/>
                        </a:buClr>
                        <a:buSzPts val="900"/>
                        <a:buFont typeface="Calibri"/>
                        <a:buNone/>
                      </a:pPr>
                      <a:r>
                        <a:rPr lang="en" sz="900" u="none" cap="none" strike="noStrike">
                          <a:solidFill>
                            <a:srgbClr val="1A1A1A"/>
                          </a:solidFill>
                          <a:latin typeface="Calibri"/>
                          <a:ea typeface="Calibri"/>
                          <a:cs typeface="Calibri"/>
                          <a:sym typeface="Calibri"/>
                        </a:rPr>
                        <a:t>Aman Upganlawar (au2327)</a:t>
                      </a:r>
                      <a:endParaRPr sz="900" u="none" cap="none" strike="noStrike">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latin typeface="Calibri"/>
                          <a:ea typeface="Calibri"/>
                          <a:cs typeface="Calibri"/>
                          <a:sym typeface="Calibri"/>
                        </a:rPr>
                        <a:t>Llama helper quant scripts, Terraform infra body, transformer scenarios/data, dataset/image loading, VLM client, Terraform validation, monitoring/NFR tooling, agent benchmark/comparison tools, health endpoint, vision test fixtures, Qwen AWQ INT4 generic calibration</a:t>
                      </a:r>
                      <a:endParaRPr>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900">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900">
                        <a:latin typeface="Calibri"/>
                        <a:ea typeface="Calibri"/>
                        <a:cs typeface="Calibri"/>
                        <a:sym typeface="Calibri"/>
                      </a:endParaRPr>
                    </a:p>
                    <a:p>
                      <a:pPr indent="0" lvl="0" marL="0" marR="0" rtl="0" algn="l">
                        <a:spcBef>
                          <a:spcPts val="0"/>
                        </a:spcBef>
                        <a:spcAft>
                          <a:spcPts val="0"/>
                        </a:spcAft>
                        <a:buClr>
                          <a:srgbClr val="1A1A1A"/>
                        </a:buClr>
                        <a:buSzPts val="900"/>
                        <a:buFont typeface="Calibri"/>
                        <a:buNone/>
                      </a:pPr>
                      <a:r>
                        <a:t/>
                      </a:r>
                      <a:endParaRPr sz="900">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900"/>
                        <a:buFont typeface="Calibri"/>
                        <a:buNone/>
                      </a:pPr>
                      <a:r>
                        <a:rPr lang="en" sz="900">
                          <a:latin typeface="Calibri"/>
                          <a:ea typeface="Calibri"/>
                          <a:cs typeface="Calibri"/>
                          <a:sym typeface="Calibri"/>
                        </a:rPr>
                        <a:t>terraform folder files, scripts/validate_terraform.sh, scripts/recover_save.py, scripts/repack_int4.py, scripts/quantize_awq_llama_vision_generic.py, benchmark/run_agent_benchmark.py, benchmark/compare_agents.py, benchmark/nfr_collector.py, benchmark/variants/base.py, benchmark/variants/L3_llama_image_512.py, src/servers/vision/image_loader.py, src/servers/vision/vlm_client.py, src/servers/vision/tests/conftest.py, src/scenarios/local/vision_transformer_scenarios.json, data/transformer/*</a:t>
                      </a:r>
                      <a:endParaRPr sz="900" u="none" cap="none" strike="noStrike">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bl>
          </a:graphicData>
        </a:graphic>
      </p:graphicFrame>
      <p:sp>
        <p:nvSpPr>
          <p:cNvPr id="243" name="Google Shape;243;p29"/>
          <p:cNvSpPr/>
          <p:nvPr/>
        </p:nvSpPr>
        <p:spPr>
          <a:xfrm>
            <a:off x="342900" y="4903470"/>
            <a:ext cx="41148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800"/>
              <a:buFont typeface="Calibri"/>
              <a:buNone/>
            </a:pPr>
            <a:r>
              <a:rPr b="0" i="1" lang="en" sz="800" u="none" cap="none" strike="noStrike">
                <a:solidFill>
                  <a:srgbClr val="6B6F76"/>
                </a:solidFill>
                <a:latin typeface="Calibri"/>
                <a:ea typeface="Calibri"/>
                <a:cs typeface="Calibri"/>
                <a:sym typeface="Calibri"/>
              </a:rPr>
              <a:t>HPML · Spring 2026</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8" name="Shape 248"/>
        <p:cNvGrpSpPr/>
        <p:nvPr/>
      </p:nvGrpSpPr>
      <p:grpSpPr>
        <a:xfrm>
          <a:off x="0" y="0"/>
          <a:ext cx="0" cy="0"/>
          <a:chOff x="0" y="0"/>
          <a:chExt cx="0" cy="0"/>
        </a:xfrm>
      </p:grpSpPr>
      <p:sp>
        <p:nvSpPr>
          <p:cNvPr id="249" name="Google Shape;249;p30"/>
          <p:cNvSpPr/>
          <p:nvPr/>
        </p:nvSpPr>
        <p:spPr>
          <a:xfrm>
            <a:off x="342900" y="377190"/>
            <a:ext cx="8455800" cy="48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400"/>
              <a:buFont typeface="Calibri"/>
              <a:buNone/>
            </a:pPr>
            <a:r>
              <a:rPr b="1" i="0" lang="en" sz="2400" u="none" cap="none" strike="noStrike">
                <a:solidFill>
                  <a:srgbClr val="1A1A1A"/>
                </a:solidFill>
                <a:latin typeface="Calibri"/>
                <a:ea typeface="Calibri"/>
                <a:cs typeface="Calibri"/>
                <a:sym typeface="Calibri"/>
              </a:rPr>
              <a:t>Teamwork &amp; Contributions</a:t>
            </a:r>
            <a:endParaRPr b="0" i="0" sz="2400" u="none" cap="none" strike="noStrike">
              <a:solidFill>
                <a:schemeClr val="dk1"/>
              </a:solidFill>
              <a:latin typeface="Calibri"/>
              <a:ea typeface="Calibri"/>
              <a:cs typeface="Calibri"/>
              <a:sym typeface="Calibri"/>
            </a:endParaRPr>
          </a:p>
        </p:txBody>
      </p:sp>
      <p:cxnSp>
        <p:nvCxnSpPr>
          <p:cNvPr id="250" name="Google Shape;250;p30"/>
          <p:cNvCxnSpPr/>
          <p:nvPr/>
        </p:nvCxnSpPr>
        <p:spPr>
          <a:xfrm>
            <a:off x="342900" y="891540"/>
            <a:ext cx="8455800" cy="0"/>
          </a:xfrm>
          <a:prstGeom prst="straightConnector1">
            <a:avLst/>
          </a:prstGeom>
          <a:noFill/>
          <a:ln cap="flat" cmpd="sng" w="9525">
            <a:solidFill>
              <a:srgbClr val="D9D9D9"/>
            </a:solidFill>
            <a:prstDash val="solid"/>
            <a:round/>
            <a:headEnd len="sm" w="sm" type="none"/>
            <a:tailEnd len="sm" w="sm" type="none"/>
          </a:ln>
        </p:spPr>
      </p:cxnSp>
      <p:sp>
        <p:nvSpPr>
          <p:cNvPr id="251" name="Google Shape;251;p30"/>
          <p:cNvSpPr/>
          <p:nvPr/>
        </p:nvSpPr>
        <p:spPr>
          <a:xfrm>
            <a:off x="342900" y="994410"/>
            <a:ext cx="8229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800"/>
              <a:buFont typeface="Calibri"/>
              <a:buNone/>
            </a:pPr>
            <a:r>
              <a:t/>
            </a:r>
            <a:endParaRPr b="0" i="0" sz="800" u="none" cap="none" strike="noStrike">
              <a:solidFill>
                <a:schemeClr val="dk1"/>
              </a:solidFill>
              <a:latin typeface="Calibri"/>
              <a:ea typeface="Calibri"/>
              <a:cs typeface="Calibri"/>
              <a:sym typeface="Calibri"/>
            </a:endParaRPr>
          </a:p>
        </p:txBody>
      </p:sp>
      <p:graphicFrame>
        <p:nvGraphicFramePr>
          <p:cNvPr id="252" name="Google Shape;252;p30"/>
          <p:cNvGraphicFramePr/>
          <p:nvPr/>
        </p:nvGraphicFramePr>
        <p:xfrm>
          <a:off x="297500" y="994400"/>
          <a:ext cx="3000000" cy="3000000"/>
        </p:xfrm>
        <a:graphic>
          <a:graphicData uri="http://schemas.openxmlformats.org/drawingml/2006/table">
            <a:tbl>
              <a:tblPr>
                <a:noFill/>
                <a:tableStyleId>{8F6EB3F7-00B9-48F1-BA0E-6511EF26576A}</a:tableStyleId>
              </a:tblPr>
              <a:tblGrid>
                <a:gridCol w="1508750"/>
                <a:gridCol w="3771900"/>
                <a:gridCol w="3175250"/>
              </a:tblGrid>
              <a:tr h="480050">
                <a:tc>
                  <a:txBody>
                    <a:bodyPr/>
                    <a:lstStyle/>
                    <a:p>
                      <a:pPr indent="0" lvl="0" marL="0" marR="0" rtl="0" algn="l">
                        <a:spcBef>
                          <a:spcPts val="0"/>
                        </a:spcBef>
                        <a:spcAft>
                          <a:spcPts val="0"/>
                        </a:spcAft>
                        <a:buClr>
                          <a:srgbClr val="1A1A1A"/>
                        </a:buClr>
                        <a:buSzPts val="1000"/>
                        <a:buFont typeface="Calibri"/>
                        <a:buNone/>
                      </a:pPr>
                      <a:r>
                        <a:rPr b="1" lang="en" u="none" cap="none" strike="noStrike">
                          <a:solidFill>
                            <a:srgbClr val="1A1A1A"/>
                          </a:solidFill>
                          <a:latin typeface="Calibri"/>
                          <a:ea typeface="Calibri"/>
                          <a:cs typeface="Calibri"/>
                          <a:sym typeface="Calibri"/>
                        </a:rPr>
                        <a:t>Member</a:t>
                      </a:r>
                      <a:endParaRPr u="none" cap="none" strike="noStrike">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Clr>
                          <a:srgbClr val="1A1A1A"/>
                        </a:buClr>
                        <a:buSzPts val="1000"/>
                        <a:buFont typeface="Calibri"/>
                        <a:buNone/>
                      </a:pPr>
                      <a:r>
                        <a:rPr b="1" lang="en" u="none" cap="none" strike="noStrike">
                          <a:solidFill>
                            <a:srgbClr val="1A1A1A"/>
                          </a:solidFill>
                          <a:latin typeface="Calibri"/>
                          <a:ea typeface="Calibri"/>
                          <a:cs typeface="Calibri"/>
                          <a:sym typeface="Calibri"/>
                        </a:rPr>
                        <a:t>Primary contributions</a:t>
                      </a:r>
                      <a:endParaRPr u="none" cap="none" strike="noStrike">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Clr>
                          <a:srgbClr val="1A1A1A"/>
                        </a:buClr>
                        <a:buSzPts val="1000"/>
                        <a:buFont typeface="Calibri"/>
                        <a:buNone/>
                      </a:pPr>
                      <a:r>
                        <a:rPr b="1" lang="en" u="none" cap="none" strike="noStrike">
                          <a:solidFill>
                            <a:srgbClr val="1A1A1A"/>
                          </a:solidFill>
                          <a:latin typeface="Calibri"/>
                          <a:ea typeface="Calibri"/>
                          <a:cs typeface="Calibri"/>
                          <a:sym typeface="Calibri"/>
                        </a:rPr>
                        <a:t>Tools / artifacts</a:t>
                      </a:r>
                      <a:endParaRPr u="none" cap="none" strike="noStrike">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2F2F2"/>
                    </a:solidFill>
                  </a:tcPr>
                </a:tc>
              </a:tr>
              <a:tr h="480050">
                <a:tc>
                  <a:txBody>
                    <a:bodyPr/>
                    <a:lstStyle/>
                    <a:p>
                      <a:pPr indent="0" lvl="0" marL="0" marR="0" rtl="0" algn="l">
                        <a:spcBef>
                          <a:spcPts val="0"/>
                        </a:spcBef>
                        <a:spcAft>
                          <a:spcPts val="0"/>
                        </a:spcAft>
                        <a:buClr>
                          <a:srgbClr val="1A1A1A"/>
                        </a:buClr>
                        <a:buSzPts val="900"/>
                        <a:buFont typeface="Calibri"/>
                        <a:buNone/>
                      </a:pPr>
                      <a:r>
                        <a:rPr lang="en" sz="1300" u="none" cap="none" strike="noStrike">
                          <a:solidFill>
                            <a:srgbClr val="1A1A1A"/>
                          </a:solidFill>
                          <a:latin typeface="Calibri"/>
                          <a:ea typeface="Calibri"/>
                          <a:cs typeface="Calibri"/>
                          <a:sym typeface="Calibri"/>
                        </a:rPr>
                        <a:t>Madhav Rajkondawar (mr4650)</a:t>
                      </a:r>
                      <a:endParaRPr sz="1300" u="none" cap="none" strike="noStrike">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900"/>
                        <a:buFont typeface="Calibri"/>
                        <a:buNone/>
                      </a:pPr>
                      <a:r>
                        <a:rPr lang="en" sz="1100">
                          <a:latin typeface="Calibri"/>
                          <a:ea typeface="Calibri"/>
                          <a:cs typeface="Calibri"/>
                          <a:sym typeface="Calibri"/>
                        </a:rPr>
                        <a:t>Qwen2.5 VL 7B optimization track (L1d AWQ and L3 image preprocessing at 512 px), generic AWQ/checkpoint verification,, Project config and lockfile, motor scenarios/data, variant registry, variant tests, serve-and-benchmark wrapper ReAct retry loop, image-size variants, CUDA/VRAM profiling, WandB summary, variant pruning, Plan-Execute agent</a:t>
                      </a:r>
                      <a:endParaRPr sz="1100" u="none" cap="none" strike="noStrike">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900"/>
                        <a:buFont typeface="Calibri"/>
                        <a:buNone/>
                      </a:pPr>
                      <a:r>
                        <a:rPr lang="en" sz="900">
                          <a:latin typeface="Calibri"/>
                          <a:ea typeface="Calibri"/>
                          <a:cs typeface="Calibri"/>
                          <a:sym typeface="Calibri"/>
                        </a:rPr>
                        <a:t>pyproject.toml, uv.lock, benchmark/variants/__init__.py, benchmark/variants/__main__.py, benchmark/variants/base.py, benchmark/tests/*, benchmark/variants/L3_image_512.py, L3_image_768.py, L3_image_1024.py, L3_image_1536.py, benchmark/profile_vision_encoder.py, benchmark/wandb_summary.py, scripts/quantize_awq_generic.py, scripts/verify_checkpoint.py, scripts/serve_vllm.sh, scripts/serve_and_bench.sh, src/agent/react/runner.py, src/agent/plan_execute/*, src/scenarios/local/vision_utterance_motor.json, data/motors/*</a:t>
                      </a:r>
                      <a:endParaRPr sz="900" u="none" cap="none" strike="noStrike">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480050">
                <a:tc>
                  <a:txBody>
                    <a:bodyPr/>
                    <a:lstStyle/>
                    <a:p>
                      <a:pPr indent="0" lvl="0" marL="0" marR="0" rtl="0" algn="l">
                        <a:spcBef>
                          <a:spcPts val="0"/>
                        </a:spcBef>
                        <a:spcAft>
                          <a:spcPts val="0"/>
                        </a:spcAft>
                        <a:buClr>
                          <a:srgbClr val="1A1A1A"/>
                        </a:buClr>
                        <a:buSzPts val="900"/>
                        <a:buFont typeface="Calibri"/>
                        <a:buNone/>
                      </a:pPr>
                      <a:r>
                        <a:rPr lang="en" sz="1300" u="none" cap="none" strike="noStrike">
                          <a:solidFill>
                            <a:srgbClr val="1A1A1A"/>
                          </a:solidFill>
                          <a:latin typeface="Calibri"/>
                          <a:ea typeface="Calibri"/>
                          <a:cs typeface="Calibri"/>
                          <a:sym typeface="Calibri"/>
                        </a:rPr>
                        <a:t>Yang-Jung Chen (yc4670)</a:t>
                      </a:r>
                      <a:endParaRPr sz="1300" u="none" cap="none" strike="noStrike">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900"/>
                        <a:buFont typeface="Calibri"/>
                        <a:buNone/>
                      </a:pPr>
                      <a:r>
                        <a:rPr lang="en" sz="1100">
                          <a:latin typeface="Calibri"/>
                          <a:ea typeface="Calibri"/>
                          <a:cs typeface="Calibri"/>
                          <a:sym typeface="Calibri"/>
                        </a:rPr>
                        <a:t>Llama-3-LLaVA-NeXT-8B optimization track, Llama variants, Llama quantization pipeline, Terraform , turbine scenarios/data, vLLM backend, IAP helper, early auto-scorer module,  profiling, cost/dataset stats, VM and cloud setup</a:t>
                      </a:r>
                      <a:endParaRPr sz="1100" u="none" cap="none" strike="noStrike">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t/>
                      </a:r>
                      <a:endParaRPr sz="800">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900">
                          <a:latin typeface="Calibri"/>
                          <a:ea typeface="Calibri"/>
                          <a:cs typeface="Calibri"/>
                          <a:sym typeface="Calibri"/>
                        </a:rPr>
                        <a:t>terraform folder files, src/llm/base.py, src/llm/vllm.py, scripts/iap_tunnel.sh, scripts/serve_and_bench.sh, scripts/setup_vm.sh, scripts/dataset_stats.py, scripts/cost_estimate.py, scripts/quantize_llmcompressor_v010.py, scripts/quantize_awq_llama_vision.py, auto_scorer.py, benchmark/profile_single.py, benchmark/profile_vision_encoder.py, benchmark/model_comparison.py, benchmark/nfr_collector.py, benchmark/variants/L0_llama_baseline.py, L1_llama_*, L2_llama_*, src/scenarios/local/vision_turbine_scenarios.json, data/turbine/*</a:t>
                      </a:r>
                      <a:endParaRPr sz="900">
                        <a:latin typeface="Calibri"/>
                        <a:ea typeface="Calibri"/>
                        <a:cs typeface="Calibri"/>
                        <a:sym typeface="Calibri"/>
                      </a:endParaRPr>
                    </a:p>
                    <a:p>
                      <a:pPr indent="0" lvl="0" marL="0" marR="0" rtl="0" algn="l">
                        <a:spcBef>
                          <a:spcPts val="0"/>
                        </a:spcBef>
                        <a:spcAft>
                          <a:spcPts val="0"/>
                        </a:spcAft>
                        <a:buClr>
                          <a:srgbClr val="1A1A1A"/>
                        </a:buClr>
                        <a:buSzPts val="900"/>
                        <a:buFont typeface="Calibri"/>
                        <a:buNone/>
                      </a:pPr>
                      <a:r>
                        <a:t/>
                      </a:r>
                      <a:endParaRPr sz="800">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bl>
          </a:graphicData>
        </a:graphic>
      </p:graphicFrame>
      <p:sp>
        <p:nvSpPr>
          <p:cNvPr id="253" name="Google Shape;253;p30"/>
          <p:cNvSpPr/>
          <p:nvPr/>
        </p:nvSpPr>
        <p:spPr>
          <a:xfrm>
            <a:off x="342900" y="4903470"/>
            <a:ext cx="41148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800"/>
              <a:buFont typeface="Calibri"/>
              <a:buNone/>
            </a:pPr>
            <a:r>
              <a:rPr b="0" i="1" lang="en" sz="800" u="none" cap="none" strike="noStrike">
                <a:solidFill>
                  <a:srgbClr val="6B6F76"/>
                </a:solidFill>
                <a:latin typeface="Calibri"/>
                <a:ea typeface="Calibri"/>
                <a:cs typeface="Calibri"/>
                <a:sym typeface="Calibri"/>
              </a:rPr>
              <a:t>HPML · Spring 2026</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1F26"/>
        </a:solidFill>
      </p:bgPr>
    </p:bg>
    <p:spTree>
      <p:nvGrpSpPr>
        <p:cNvPr id="258" name="Shape 258"/>
        <p:cNvGrpSpPr/>
        <p:nvPr/>
      </p:nvGrpSpPr>
      <p:grpSpPr>
        <a:xfrm>
          <a:off x="0" y="0"/>
          <a:ext cx="0" cy="0"/>
          <a:chOff x="0" y="0"/>
          <a:chExt cx="0" cy="0"/>
        </a:xfrm>
      </p:grpSpPr>
      <p:sp>
        <p:nvSpPr>
          <p:cNvPr id="259" name="Google Shape;259;p31"/>
          <p:cNvSpPr/>
          <p:nvPr/>
        </p:nvSpPr>
        <p:spPr>
          <a:xfrm>
            <a:off x="411480" y="1645920"/>
            <a:ext cx="82296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800"/>
              <a:buFont typeface="Calibri"/>
              <a:buNone/>
            </a:pPr>
            <a:r>
              <a:rPr b="1" i="0" lang="en" sz="4800" u="none" cap="none" strike="noStrike">
                <a:solidFill>
                  <a:srgbClr val="FFFFFF"/>
                </a:solidFill>
                <a:latin typeface="Calibri"/>
                <a:ea typeface="Calibri"/>
                <a:cs typeface="Calibri"/>
                <a:sym typeface="Calibri"/>
              </a:rPr>
              <a:t>Thank you</a:t>
            </a:r>
            <a:endParaRPr b="0" i="0" sz="4800" u="none" cap="none" strike="noStrike">
              <a:solidFill>
                <a:schemeClr val="dk1"/>
              </a:solidFill>
              <a:latin typeface="Calibri"/>
              <a:ea typeface="Calibri"/>
              <a:cs typeface="Calibri"/>
              <a:sym typeface="Calibri"/>
            </a:endParaRPr>
          </a:p>
        </p:txBody>
      </p:sp>
      <p:sp>
        <p:nvSpPr>
          <p:cNvPr id="260" name="Google Shape;260;p31"/>
          <p:cNvSpPr/>
          <p:nvPr/>
        </p:nvSpPr>
        <p:spPr>
          <a:xfrm>
            <a:off x="411480" y="2400300"/>
            <a:ext cx="8229600"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CC4"/>
              </a:buClr>
              <a:buSzPts val="2100"/>
              <a:buFont typeface="Calibri"/>
              <a:buNone/>
            </a:pPr>
            <a:r>
              <a:rPr b="0" i="1" lang="en" sz="2100" u="none" cap="none" strike="noStrike">
                <a:solidFill>
                  <a:srgbClr val="B8BCC4"/>
                </a:solidFill>
                <a:latin typeface="Calibri"/>
                <a:ea typeface="Calibri"/>
                <a:cs typeface="Calibri"/>
                <a:sym typeface="Calibri"/>
              </a:rPr>
              <a:t>Questions?</a:t>
            </a:r>
            <a:endParaRPr b="0" i="0" sz="2100" u="none" cap="none" strike="noStrike">
              <a:solidFill>
                <a:schemeClr val="dk1"/>
              </a:solidFill>
              <a:latin typeface="Calibri"/>
              <a:ea typeface="Calibri"/>
              <a:cs typeface="Calibri"/>
              <a:sym typeface="Calibri"/>
            </a:endParaRPr>
          </a:p>
        </p:txBody>
      </p:sp>
      <p:sp>
        <p:nvSpPr>
          <p:cNvPr id="261" name="Google Shape;261;p31"/>
          <p:cNvSpPr/>
          <p:nvPr/>
        </p:nvSpPr>
        <p:spPr>
          <a:xfrm>
            <a:off x="411480" y="3429000"/>
            <a:ext cx="82296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262" name="Google Shape;262;p31"/>
          <p:cNvSpPr/>
          <p:nvPr/>
        </p:nvSpPr>
        <p:spPr>
          <a:xfrm>
            <a:off x="342900" y="4903470"/>
            <a:ext cx="41148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E939A"/>
              </a:buClr>
              <a:buSzPts val="800"/>
              <a:buFont typeface="Calibri"/>
              <a:buNone/>
            </a:pPr>
            <a:r>
              <a:rPr b="0" i="1" lang="en" sz="800" u="none" cap="none" strike="noStrike">
                <a:solidFill>
                  <a:srgbClr val="8E939A"/>
                </a:solidFill>
                <a:latin typeface="Calibri"/>
                <a:ea typeface="Calibri"/>
                <a:cs typeface="Calibri"/>
                <a:sym typeface="Calibri"/>
              </a:rPr>
              <a:t>HPML · Spring 2026</a:t>
            </a:r>
            <a:endParaRPr b="0" i="0" sz="800" u="none" cap="none" strike="noStrike">
              <a:solidFill>
                <a:schemeClr val="dk1"/>
              </a:solidFill>
              <a:latin typeface="Calibri"/>
              <a:ea typeface="Calibri"/>
              <a:cs typeface="Calibri"/>
              <a:sym typeface="Calibri"/>
            </a:endParaRPr>
          </a:p>
        </p:txBody>
      </p:sp>
      <p:sp>
        <p:nvSpPr>
          <p:cNvPr id="263" name="Google Shape;263;p31"/>
          <p:cNvSpPr/>
          <p:nvPr/>
        </p:nvSpPr>
        <p:spPr>
          <a:xfrm>
            <a:off x="411480" y="3429000"/>
            <a:ext cx="8229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0" i="0" lang="en" sz="1200" u="none" cap="none" strike="noStrike">
                <a:solidFill>
                  <a:srgbClr val="FFFFFF"/>
                </a:solidFill>
                <a:latin typeface="Calibri"/>
                <a:ea typeface="Calibri"/>
                <a:cs typeface="Calibri"/>
                <a:sym typeface="Calibri"/>
              </a:rPr>
              <a:t>GitHub:  </a:t>
            </a:r>
            <a:r>
              <a:rPr lang="en" sz="1200">
                <a:solidFill>
                  <a:srgbClr val="FFFFFF"/>
                </a:solidFill>
                <a:latin typeface="Calibri"/>
                <a:ea typeface="Calibri"/>
                <a:cs typeface="Calibri"/>
                <a:sym typeface="Calibri"/>
              </a:rPr>
              <a:t>https://github.com/amaan784/hpml-final-project</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200"/>
              <a:buFont typeface="Calibri"/>
              <a:buNone/>
            </a:pPr>
            <a:r>
              <a:rPr b="0" i="0" lang="en" sz="1200" u="none" cap="none" strike="noStrike">
                <a:solidFill>
                  <a:srgbClr val="FFFFFF"/>
                </a:solidFill>
                <a:latin typeface="Calibri"/>
                <a:ea typeface="Calibri"/>
                <a:cs typeface="Calibri"/>
                <a:sym typeface="Calibri"/>
              </a:rPr>
              <a:t>Tracking:  </a:t>
            </a:r>
            <a:r>
              <a:rPr lang="en" sz="1200">
                <a:solidFill>
                  <a:srgbClr val="FFFFFF"/>
                </a:solidFill>
                <a:latin typeface="Calibri"/>
                <a:ea typeface="Calibri"/>
                <a:cs typeface="Calibri"/>
                <a:sym typeface="Calibri"/>
              </a:rPr>
              <a:t>https://wandb.ai/amaan784-columbia-university/hpml-final-benchmark?nw=nwuseramanupg</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